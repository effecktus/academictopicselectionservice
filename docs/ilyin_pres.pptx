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6" r:id="rId11"/>
    <p:sldId id="277" r:id="rId12"/>
    <p:sldId id="278" r:id="rId13"/>
    <p:sldId id="267" r:id="rId14"/>
    <p:sldId id="265" r:id="rId15"/>
    <p:sldId id="266" r:id="rId16"/>
    <p:sldId id="268" r:id="rId17"/>
    <p:sldId id="271" r:id="rId18"/>
    <p:sldId id="272" r:id="rId19"/>
    <p:sldId id="273" r:id="rId20"/>
    <p:sldId id="274" r:id="rId21"/>
    <p:sldId id="275" r:id="rId22"/>
    <p:sldId id="269" r:id="rId23"/>
    <p:sldId id="270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54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5889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5273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30971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53903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16981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09057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31376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71456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4024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35083CD8-CD74-4299-B170-A251DCE4F748}"/>
              </a:ext>
            </a:extLst>
          </p:cNvPr>
          <p:cNvSpPr>
            <a:spLocks noGrp="1"/>
          </p:cNvSpPr>
          <p:nvPr/>
        </p:nvSpPr>
        <p:spPr>
          <a:xfrm>
            <a:off x="85725" y="142875"/>
            <a:ext cx="8886825" cy="331903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>
                <a:latin typeface="+mn-lt"/>
                <a:cs typeface="Times New Roman" panose="02020603050405020304" pitchFamily="18" charset="0"/>
              </a:rPr>
              <a:t>К</a:t>
            </a:r>
            <a:r>
              <a:rPr lang="ru-RU" sz="1800" dirty="0" err="1">
                <a:latin typeface="+mn-lt"/>
                <a:cs typeface="Times New Roman" panose="02020603050405020304" pitchFamily="18" charset="0"/>
              </a:rPr>
              <a:t>азанский</a:t>
            </a:r>
            <a:r>
              <a:rPr lang="en-US" sz="1800" dirty="0">
                <a:latin typeface="+mn-lt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+mn-lt"/>
                <a:cs typeface="Times New Roman" panose="02020603050405020304" pitchFamily="18" charset="0"/>
              </a:rPr>
              <a:t>н</a:t>
            </a:r>
            <a:r>
              <a:rPr lang="en-US" sz="1800" dirty="0" err="1">
                <a:latin typeface="+mn-lt"/>
                <a:cs typeface="Times New Roman" panose="02020603050405020304" pitchFamily="18" charset="0"/>
              </a:rPr>
              <a:t>ациональный</a:t>
            </a:r>
            <a:r>
              <a:rPr lang="en-US" sz="1800" dirty="0">
                <a:latin typeface="+mn-lt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+mn-lt"/>
                <a:cs typeface="Times New Roman" panose="02020603050405020304" pitchFamily="18" charset="0"/>
              </a:rPr>
              <a:t>и</a:t>
            </a:r>
            <a:r>
              <a:rPr lang="en-US" sz="1800" dirty="0" err="1">
                <a:latin typeface="+mn-lt"/>
                <a:cs typeface="Times New Roman" panose="02020603050405020304" pitchFamily="18" charset="0"/>
              </a:rPr>
              <a:t>сследовательский</a:t>
            </a:r>
            <a:r>
              <a:rPr lang="en-US" sz="1800" dirty="0">
                <a:latin typeface="+mn-lt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+mn-lt"/>
                <a:cs typeface="Times New Roman" panose="02020603050405020304" pitchFamily="18" charset="0"/>
              </a:rPr>
              <a:t>т</a:t>
            </a:r>
            <a:r>
              <a:rPr lang="en-US" sz="1800" dirty="0" err="1">
                <a:latin typeface="+mn-lt"/>
                <a:cs typeface="Times New Roman" panose="02020603050405020304" pitchFamily="18" charset="0"/>
              </a:rPr>
              <a:t>ехнический</a:t>
            </a:r>
            <a:r>
              <a:rPr lang="en-US" sz="1800" dirty="0">
                <a:latin typeface="+mn-lt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+mn-lt"/>
                <a:cs typeface="Times New Roman" panose="02020603050405020304" pitchFamily="18" charset="0"/>
              </a:rPr>
              <a:t>у</a:t>
            </a:r>
            <a:r>
              <a:rPr lang="en-US" sz="1800" dirty="0" err="1">
                <a:latin typeface="+mn-lt"/>
                <a:cs typeface="Times New Roman" panose="02020603050405020304" pitchFamily="18" charset="0"/>
              </a:rPr>
              <a:t>ниверситет</a:t>
            </a:r>
            <a:br>
              <a:rPr lang="en-US" sz="1800" dirty="0">
                <a:latin typeface="+mn-lt"/>
                <a:cs typeface="Times New Roman" panose="02020603050405020304" pitchFamily="18" charset="0"/>
              </a:rPr>
            </a:br>
            <a:r>
              <a:rPr lang="en-US" sz="1800" dirty="0" err="1">
                <a:latin typeface="+mn-lt"/>
                <a:cs typeface="Times New Roman" panose="02020603050405020304" pitchFamily="18" charset="0"/>
              </a:rPr>
              <a:t>им</a:t>
            </a:r>
            <a:r>
              <a:rPr lang="en-US" sz="1800" dirty="0">
                <a:latin typeface="+mn-lt"/>
                <a:cs typeface="Times New Roman" panose="02020603050405020304" pitchFamily="18" charset="0"/>
              </a:rPr>
              <a:t>. А. Н. </a:t>
            </a:r>
            <a:r>
              <a:rPr lang="en-US" sz="1800" dirty="0" err="1">
                <a:latin typeface="+mn-lt"/>
                <a:cs typeface="Times New Roman" panose="02020603050405020304" pitchFamily="18" charset="0"/>
              </a:rPr>
              <a:t>Туполева</a:t>
            </a:r>
            <a:br>
              <a:rPr lang="en-US" sz="1800" dirty="0">
                <a:latin typeface="+mn-lt"/>
                <a:cs typeface="Times New Roman" panose="02020603050405020304" pitchFamily="18" charset="0"/>
              </a:rPr>
            </a:br>
            <a:r>
              <a:rPr lang="en-US" sz="1800" dirty="0">
                <a:latin typeface="+mn-lt"/>
                <a:cs typeface="Times New Roman" panose="02020603050405020304" pitchFamily="18" charset="0"/>
              </a:rPr>
              <a:t>(КНИТУ - КАИ)</a:t>
            </a:r>
            <a:br>
              <a:rPr lang="ru-RU" sz="1800" dirty="0">
                <a:latin typeface="+mn-lt"/>
                <a:cs typeface="Times New Roman" panose="02020603050405020304" pitchFamily="18" charset="0"/>
              </a:rPr>
            </a:br>
            <a:br>
              <a:rPr lang="en-US" sz="1800" dirty="0">
                <a:latin typeface="+mn-lt"/>
                <a:cs typeface="Times New Roman" panose="02020603050405020304" pitchFamily="18" charset="0"/>
              </a:rPr>
            </a:br>
            <a:r>
              <a:rPr lang="en-US" sz="1800" dirty="0">
                <a:latin typeface="+mn-lt"/>
                <a:cs typeface="Times New Roman" panose="02020603050405020304" pitchFamily="18" charset="0"/>
              </a:rPr>
              <a:t>КАФЕДРА ПРИКЛАДНОЙ МАТЕМАТИКИ И ИНФОРМАТИКИ</a:t>
            </a:r>
            <a:br>
              <a:rPr lang="ru-RU" sz="1800" dirty="0">
                <a:latin typeface="+mn-lt"/>
                <a:cs typeface="Times New Roman" panose="02020603050405020304" pitchFamily="18" charset="0"/>
              </a:rPr>
            </a:br>
            <a:br>
              <a:rPr lang="en-US" sz="1800" dirty="0">
                <a:latin typeface="+mn-lt"/>
                <a:cs typeface="Times New Roman" panose="02020603050405020304" pitchFamily="18" charset="0"/>
              </a:rPr>
            </a:br>
            <a:r>
              <a:rPr lang="ru-RU" sz="1800" dirty="0">
                <a:latin typeface="+mn-lt"/>
                <a:cs typeface="Times New Roman" panose="02020603050405020304" pitchFamily="18" charset="0"/>
              </a:rPr>
              <a:t>Направление подготовки: 09.03.04 Программная инженерия</a:t>
            </a:r>
            <a:br>
              <a:rPr lang="en-US" sz="1800" dirty="0">
                <a:latin typeface="+mn-lt"/>
                <a:cs typeface="Times New Roman" panose="02020603050405020304" pitchFamily="18" charset="0"/>
              </a:rPr>
            </a:br>
            <a:br>
              <a:rPr lang="ru-RU" sz="1800" dirty="0">
                <a:latin typeface="+mn-lt"/>
                <a:cs typeface="Times New Roman" panose="02020603050405020304" pitchFamily="18" charset="0"/>
              </a:rPr>
            </a:br>
            <a:r>
              <a:rPr lang="ru-RU" sz="1800" dirty="0">
                <a:latin typeface="+mn-lt"/>
                <a:cs typeface="Times New Roman" panose="02020603050405020304" pitchFamily="18" charset="0"/>
              </a:rPr>
              <a:t>Презентация выпускной квалификационной работы </a:t>
            </a:r>
            <a:r>
              <a:rPr lang="en-US" sz="1800" dirty="0" err="1">
                <a:latin typeface="+mn-lt"/>
                <a:cs typeface="Times New Roman" panose="02020603050405020304" pitchFamily="18" charset="0"/>
              </a:rPr>
              <a:t>на</a:t>
            </a:r>
            <a:r>
              <a:rPr lang="en-US" sz="1800" dirty="0">
                <a:latin typeface="+mn-lt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+mn-lt"/>
                <a:cs typeface="Times New Roman" panose="02020603050405020304" pitchFamily="18" charset="0"/>
              </a:rPr>
              <a:t>тему</a:t>
            </a:r>
            <a:r>
              <a:rPr lang="en-US" sz="1800" dirty="0">
                <a:latin typeface="+mn-lt"/>
                <a:cs typeface="Times New Roman" panose="02020603050405020304" pitchFamily="18" charset="0"/>
              </a:rPr>
              <a:t>:</a:t>
            </a:r>
            <a:br>
              <a:rPr lang="ru-RU" sz="1800" dirty="0">
                <a:latin typeface="+mn-lt"/>
                <a:cs typeface="Times New Roman" panose="02020603050405020304" pitchFamily="18" charset="0"/>
              </a:rPr>
            </a:br>
            <a:br>
              <a:rPr lang="en-US" sz="1800" dirty="0">
                <a:latin typeface="+mn-lt"/>
                <a:cs typeface="Times New Roman" panose="02020603050405020304" pitchFamily="18" charset="0"/>
              </a:rPr>
            </a:br>
            <a:r>
              <a:rPr lang="ru-RU" sz="2100" b="1" kern="0" dirty="0">
                <a:effectLst/>
                <a:latin typeface="+mn-lt"/>
                <a:ea typeface="Times New Roman" panose="02020603050405020304" pitchFamily="18" charset="0"/>
              </a:rPr>
              <a:t>«Разработка прототипа сервиса по выбору научного руководителя для выпускной квалификационной работы в высшем учебном заведении»</a:t>
            </a:r>
            <a:endParaRPr lang="ru-RU" sz="2100" b="1" dirty="0">
              <a:latin typeface="+mn-lt"/>
            </a:endParaRPr>
          </a:p>
        </p:txBody>
      </p:sp>
      <p:sp>
        <p:nvSpPr>
          <p:cNvPr id="15" name="Подзаголовок 2">
            <a:extLst>
              <a:ext uri="{FF2B5EF4-FFF2-40B4-BE49-F238E27FC236}">
                <a16:creationId xmlns:a16="http://schemas.microsoft.com/office/drawing/2014/main" id="{A5632F01-C984-4864-B079-918D8E76062B}"/>
              </a:ext>
            </a:extLst>
          </p:cNvPr>
          <p:cNvSpPr>
            <a:spLocks noGrp="1"/>
          </p:cNvSpPr>
          <p:nvPr/>
        </p:nvSpPr>
        <p:spPr>
          <a:xfrm>
            <a:off x="5614415" y="3461914"/>
            <a:ext cx="3358135" cy="15387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Aft>
                <a:spcPts val="0"/>
              </a:spcAft>
              <a:defRPr/>
            </a:pPr>
            <a:r>
              <a:rPr lang="ru-RU" sz="1600" dirty="0">
                <a:cs typeface="Calibri"/>
              </a:rPr>
              <a:t>Выполнил: студент гр. 4411</a:t>
            </a:r>
          </a:p>
          <a:p>
            <a:pPr algn="r" fontAlgn="auto">
              <a:spcAft>
                <a:spcPts val="0"/>
              </a:spcAft>
              <a:defRPr/>
            </a:pPr>
            <a:r>
              <a:rPr lang="ru-RU" sz="1600" dirty="0">
                <a:cs typeface="Calibri"/>
              </a:rPr>
              <a:t>Ильин А.А.</a:t>
            </a:r>
          </a:p>
          <a:p>
            <a:pPr algn="r" fontAlgn="auto">
              <a:spcAft>
                <a:spcPts val="0"/>
              </a:spcAft>
              <a:defRPr/>
            </a:pPr>
            <a:r>
              <a:rPr lang="ru-RU" sz="1600" dirty="0">
                <a:cs typeface="Calibri"/>
              </a:rPr>
              <a:t>Руководитель: </a:t>
            </a:r>
            <a:r>
              <a:rPr lang="ru-RU" sz="1600" dirty="0" err="1">
                <a:cs typeface="Calibri"/>
              </a:rPr>
              <a:t>канд.техн.наук</a:t>
            </a:r>
            <a:r>
              <a:rPr lang="ru-RU" sz="1600" dirty="0">
                <a:cs typeface="Calibri"/>
              </a:rPr>
              <a:t>, доцент каф. ПМИ</a:t>
            </a:r>
          </a:p>
          <a:p>
            <a:pPr algn="r" fontAlgn="auto">
              <a:spcAft>
                <a:spcPts val="0"/>
              </a:spcAft>
              <a:defRPr/>
            </a:pPr>
            <a:r>
              <a:rPr lang="ru-RU" sz="1600" dirty="0">
                <a:cs typeface="Calibri"/>
              </a:rPr>
              <a:t>Валитова Н. Л.</a:t>
            </a:r>
          </a:p>
          <a:p>
            <a:endParaRPr lang="ru-RU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/>
          </p:cNvSpPr>
          <p:nvPr/>
        </p:nvSpPr>
        <p:spPr>
          <a:xfrm>
            <a:off x="360000" y="36000"/>
            <a:ext cx="8460000" cy="39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ea typeface="Times New Roman" pitchFamily="34" charset="-122"/>
                <a:cs typeface="Times New Roman" pitchFamily="34" charset="-120"/>
              </a:rPr>
              <a:t>2. Актуальность и цель работы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32000" y="468000"/>
            <a:ext cx="828000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80000" y="4680000"/>
            <a:ext cx="468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ru-RU" sz="2000" dirty="0"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57031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Актуальность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65760" y="942996"/>
            <a:ext cx="8412480" cy="20196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Процесс выбора научного руководителя и темы ВКР ведётся вручную: бумажные заявления, электронная почта, таблицы</a:t>
            </a:r>
            <a:r>
              <a:rPr lang="ru-RU" sz="2000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.</a:t>
            </a:r>
            <a:endParaRPr lang="en-US" sz="20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Отсутствует единый регламентированный цифровой процесс согласования</a:t>
            </a:r>
            <a:r>
              <a:rPr lang="ru-RU" sz="2000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.</a:t>
            </a:r>
            <a:endParaRPr lang="en-US" sz="20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Разрозненность данных и невозможность отслеживания статуса заявки в реальном времени</a:t>
            </a:r>
            <a:r>
              <a:rPr lang="ru-RU" sz="2000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0000" y="324131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Цель работы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60000" y="3614764"/>
            <a:ext cx="8412480" cy="958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ru-RU" sz="2000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Автоматизация </a:t>
            </a:r>
            <a:r>
              <a:rPr lang="en-US" sz="2000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процесса организации ВКР за счёт разработки прототипа программно-информационной системы выбора научного руководителя и темы ВКР в высшем учебном заведении.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0000" y="36000"/>
            <a:ext cx="8460000" cy="39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cs typeface="Times New Roman" pitchFamily="34" charset="-120"/>
              </a:rPr>
              <a:t>3. Задачи работы</a:t>
            </a:r>
          </a:p>
        </p:txBody>
      </p:sp>
      <p:sp>
        <p:nvSpPr>
          <p:cNvPr id="3" name="Shape 1"/>
          <p:cNvSpPr/>
          <p:nvPr/>
        </p:nvSpPr>
        <p:spPr>
          <a:xfrm>
            <a:off x="432000" y="468000"/>
            <a:ext cx="828000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531432"/>
            <a:ext cx="8412480" cy="4525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/>
              <a:t>Провести анализ предметной области, исследовать существующие процессы и автоматизированные системы управления учебным процессом.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/>
              <a:t>Сформулировать функциональные и нефункциональные требования к разрабатываемой системе.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/>
              <a:t>Спроектировать архитектуру системы.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/>
              <a:t>Реализовать алгоритм согласования заявок с жизненными циклами запроса на руководство и заявки на тему.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/>
              <a:t>Разработать модуль коммуникации, ролевую модель доступа и подсистему уведомлений.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2000" dirty="0"/>
              <a:t>Выполнить тестирование системы на корректность бизнес-логики, разграничение прав доступа и устойчивость при параллельных операциях.</a:t>
            </a: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DB91F405-1FAF-4138-891D-372053631F7C}"/>
              </a:ext>
            </a:extLst>
          </p:cNvPr>
          <p:cNvSpPr/>
          <p:nvPr/>
        </p:nvSpPr>
        <p:spPr>
          <a:xfrm>
            <a:off x="8280000" y="4680000"/>
            <a:ext cx="468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ru-RU" sz="2000" dirty="0"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0000" y="36000"/>
            <a:ext cx="8460000" cy="39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cs typeface="Times New Roman" pitchFamily="34" charset="-120"/>
              </a:rPr>
              <a:t>4. Предметная область. Выявленные проблемы</a:t>
            </a:r>
          </a:p>
        </p:txBody>
      </p:sp>
      <p:sp>
        <p:nvSpPr>
          <p:cNvPr id="3" name="Shape 1"/>
          <p:cNvSpPr/>
          <p:nvPr/>
        </p:nvSpPr>
        <p:spPr>
          <a:xfrm>
            <a:off x="432000" y="468000"/>
            <a:ext cx="828000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412480" cy="4142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Отсутствие единого регламентированного процесса</a:t>
            </a:r>
            <a:endParaRPr lang="ru-RU" sz="20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Ручной учёт и бумажный документооборот</a:t>
            </a:r>
            <a:endParaRPr lang="ru-RU" sz="2000" dirty="0">
              <a:solidFill>
                <a:srgbClr val="000000"/>
              </a:solidFill>
              <a:ea typeface="Times New Roman" pitchFamily="34" charset="-122"/>
              <a:cs typeface="Times New Roman" pitchFamily="34" charset="-120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Ограниченная коммуникация в рамках заявки</a:t>
            </a:r>
            <a:endParaRPr lang="ru-RU" sz="20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Многократное оформление бумажных заявлений</a:t>
            </a:r>
            <a:endParaRPr lang="ru-RU" sz="20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Затруднённое формирование отчётности</a:t>
            </a:r>
            <a:endParaRPr lang="ru-RU" sz="20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E6DA7E51-120F-49D3-BA99-ADDA866242B0}"/>
              </a:ext>
            </a:extLst>
          </p:cNvPr>
          <p:cNvSpPr/>
          <p:nvPr/>
        </p:nvSpPr>
        <p:spPr>
          <a:xfrm>
            <a:off x="8280000" y="4680000"/>
            <a:ext cx="468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ru-RU" sz="2000" dirty="0">
                <a:cs typeface="Times New Roman" pitchFamily="34" charset="-120"/>
              </a:rPr>
              <a:t>4</a:t>
            </a:r>
            <a:endParaRPr lang="en-US" sz="2000" dirty="0">
              <a:cs typeface="Times New Roman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0000" y="36000"/>
            <a:ext cx="8460000" cy="39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cs typeface="Times New Roman" pitchFamily="34" charset="-120"/>
              </a:rPr>
              <a:t>5. Анализ существующих решений</a:t>
            </a:r>
          </a:p>
        </p:txBody>
      </p:sp>
      <p:sp>
        <p:nvSpPr>
          <p:cNvPr id="3" name="Shape 1"/>
          <p:cNvSpPr/>
          <p:nvPr/>
        </p:nvSpPr>
        <p:spPr>
          <a:xfrm>
            <a:off x="432000" y="468000"/>
            <a:ext cx="828000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061729"/>
              </p:ext>
            </p:extLst>
          </p:nvPr>
        </p:nvGraphicFramePr>
        <p:xfrm>
          <a:off x="431999" y="531433"/>
          <a:ext cx="8279999" cy="4095816"/>
        </p:xfrm>
        <a:graphic>
          <a:graphicData uri="http://schemas.openxmlformats.org/drawingml/2006/table">
            <a:tbl>
              <a:tblPr/>
              <a:tblGrid>
                <a:gridCol w="34249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89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07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56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96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440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Критерий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Moodle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ELMA365/Битрикс24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1С: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Университет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Разраба</a:t>
                      </a:r>
                      <a:r>
                        <a:rPr lang="ru-RU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</a:t>
                      </a:r>
                      <a:r>
                        <a:rPr lang="en-US" sz="1600" b="1" dirty="0" err="1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ываемая</a:t>
                      </a:r>
                      <a:r>
                        <a:rPr lang="ru-RU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 система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55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Каталог тем и преподавателей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±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−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±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64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62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Регламентированный процесс заявки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−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64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±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64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55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Чат в рамках заявки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±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±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−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64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62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Роли студент / преподаватель / зав. каф.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±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64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64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64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55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Архив защищённых ВКР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−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−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±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64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355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Аналитика и экспорт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±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64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64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64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355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Специализация под задачу ВКР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−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−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±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64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355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Простота внедрения в вузе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±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−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CC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−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64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3"/>
          <p:cNvSpPr/>
          <p:nvPr/>
        </p:nvSpPr>
        <p:spPr>
          <a:xfrm>
            <a:off x="316080" y="4842506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08080"/>
                </a:solidFill>
                <a:ea typeface="Times New Roman" pitchFamily="34" charset="-122"/>
                <a:cs typeface="Times New Roman" pitchFamily="34" charset="-120"/>
              </a:rPr>
              <a:t>«+» — удовлетворён; «±» — частично / при доработке; «−» — не предусмотрен</a:t>
            </a:r>
            <a:endParaRPr lang="en-US" sz="110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374ED735-BA6F-4637-97A9-4469B80990A2}"/>
              </a:ext>
            </a:extLst>
          </p:cNvPr>
          <p:cNvSpPr/>
          <p:nvPr/>
        </p:nvSpPr>
        <p:spPr>
          <a:xfrm>
            <a:off x="8280000" y="4680000"/>
            <a:ext cx="468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ru-RU" sz="2000" dirty="0">
                <a:cs typeface="Times New Roman" pitchFamily="34" charset="-120"/>
              </a:rPr>
              <a:t>5</a:t>
            </a:r>
            <a:endParaRPr lang="en-US" sz="2000" dirty="0">
              <a:cs typeface="Times New Roman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0000" y="36000"/>
            <a:ext cx="8460000" cy="396000"/>
          </a:xfrm>
          <a:prstGeom prst="rect">
            <a:avLst/>
          </a:prstGeom>
        </p:spPr>
        <p:txBody>
          <a:bodyPr wrap="square" rtlCol="0" anchor="ctr"/>
          <a:lstStyle/>
          <a:p>
            <a:r>
              <a:rPr lang="en-US" sz="2800" b="1" dirty="0">
                <a:cs typeface="Times New Roman" pitchFamily="34" charset="-120"/>
              </a:rPr>
              <a:t>6. Требования к системе</a:t>
            </a:r>
          </a:p>
        </p:txBody>
      </p:sp>
      <p:sp>
        <p:nvSpPr>
          <p:cNvPr id="3" name="Shape 1"/>
          <p:cNvSpPr/>
          <p:nvPr/>
        </p:nvSpPr>
        <p:spPr>
          <a:xfrm>
            <a:off x="432000" y="468000"/>
            <a:ext cx="828000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531432"/>
            <a:ext cx="4114800" cy="703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Функциональные требования</a:t>
            </a:r>
            <a:r>
              <a:rPr lang="ru-RU" sz="2400" b="1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: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4206240" cy="3873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4 роли: студент, преподаватель, зав. кафедрой, администратор</a:t>
            </a:r>
            <a:r>
              <a:rPr lang="ru-RU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.</a:t>
            </a:r>
            <a:endParaRPr lang="en-US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Каталог преподавателей с лимитом и фильтрацией тем ВКР</a:t>
            </a:r>
            <a:r>
              <a:rPr lang="ru-RU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.</a:t>
            </a:r>
            <a:endParaRPr lang="en-US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ЖЦ</a:t>
            </a: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 запроса на руководство</a:t>
            </a:r>
            <a:r>
              <a:rPr lang="ru-RU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.</a:t>
            </a:r>
            <a:endParaRPr lang="en-US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ЖЦ заявки на тему ВКР</a:t>
            </a:r>
            <a:r>
              <a:rPr lang="ru-RU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.</a:t>
            </a:r>
            <a:endParaRPr lang="en-US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Чат в рамках заявки</a:t>
            </a:r>
            <a:r>
              <a:rPr lang="ru-RU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.</a:t>
            </a:r>
            <a:endParaRPr lang="en-US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Архив ВКР</a:t>
            </a:r>
            <a:r>
              <a:rPr lang="ru-RU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.</a:t>
            </a:r>
            <a:endParaRPr lang="en-US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Уведомления</a:t>
            </a:r>
            <a:r>
              <a:rPr lang="ru-RU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.</a:t>
            </a:r>
            <a:endParaRPr lang="en-US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Аналитика и экспорт</a:t>
            </a:r>
            <a:r>
              <a:rPr lang="ru-RU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.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754880" y="531432"/>
            <a:ext cx="4114800" cy="703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Нефункциональные требования</a:t>
            </a:r>
            <a:r>
              <a:rPr lang="ru-RU" sz="2400" b="1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: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754880" y="1234440"/>
            <a:ext cx="4114800" cy="3873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Безопасность: JWT + refresh-ротация, bcrypt, rate-limit</a:t>
            </a:r>
            <a:r>
              <a:rPr lang="ru-RU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.</a:t>
            </a:r>
            <a:endParaRPr lang="en-US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Масштабируемость: stateless-серверная часть</a:t>
            </a:r>
            <a:r>
              <a:rPr lang="ru-RU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.</a:t>
            </a:r>
            <a:endParaRPr lang="en-US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Сопровождаемость: Clean Architecture, тесты</a:t>
            </a:r>
            <a:r>
              <a:rPr lang="ru-RU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.</a:t>
            </a:r>
            <a:endParaRPr lang="en-US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Переносимость: Docker-контейнеры</a:t>
            </a:r>
            <a:r>
              <a:rPr lang="ru-RU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.</a:t>
            </a:r>
            <a:endParaRPr lang="en-US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Доступность: адаптивный UI, актуальные браузеры</a:t>
            </a:r>
            <a:r>
              <a:rPr lang="ru-RU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.</a:t>
            </a:r>
            <a:endParaRPr lang="en-US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A2958521-4053-44EC-A0C2-12E681678264}"/>
              </a:ext>
            </a:extLst>
          </p:cNvPr>
          <p:cNvSpPr/>
          <p:nvPr/>
        </p:nvSpPr>
        <p:spPr>
          <a:xfrm>
            <a:off x="8280000" y="4680000"/>
            <a:ext cx="468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ru-RU" sz="2000" dirty="0">
                <a:cs typeface="Times New Roman" pitchFamily="34" charset="-120"/>
              </a:rPr>
              <a:t>6</a:t>
            </a:r>
            <a:endParaRPr lang="en-US" sz="2000" dirty="0">
              <a:cs typeface="Times New Roman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0000" y="36000"/>
            <a:ext cx="8460000" cy="39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cs typeface="Times New Roman" pitchFamily="34" charset="-120"/>
              </a:rPr>
              <a:t>7. Технологический стек</a:t>
            </a:r>
          </a:p>
        </p:txBody>
      </p:sp>
      <p:sp>
        <p:nvSpPr>
          <p:cNvPr id="3" name="Shape 1"/>
          <p:cNvSpPr/>
          <p:nvPr/>
        </p:nvSpPr>
        <p:spPr>
          <a:xfrm>
            <a:off x="432000" y="468000"/>
            <a:ext cx="828000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32008"/>
            <a:ext cx="1920240" cy="5842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Серверная часть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1134558"/>
            <a:ext cx="192024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19068"/>
            <a:ext cx="1920240" cy="190712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85725" indent="-85725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ASP.NET Core 10</a:t>
            </a:r>
            <a:endParaRPr lang="en-US" dirty="0"/>
          </a:p>
          <a:p>
            <a:pPr marL="85725" indent="-85725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C# 13 / .NET 10</a:t>
            </a:r>
            <a:endParaRPr lang="en-US" dirty="0"/>
          </a:p>
          <a:p>
            <a:pPr marL="85725" indent="-85725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EF Core 10</a:t>
            </a:r>
            <a:endParaRPr lang="en-US" dirty="0"/>
          </a:p>
          <a:p>
            <a:pPr marL="85725" indent="-85725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JWT + Refresh</a:t>
            </a:r>
            <a:endParaRPr lang="en-US" dirty="0"/>
          </a:p>
          <a:p>
            <a:pPr marL="85725" indent="-85725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MailKit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514600" y="532008"/>
            <a:ext cx="1920240" cy="5842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Клиентская часть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2514600" y="1134558"/>
            <a:ext cx="192024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14600" y="1219068"/>
            <a:ext cx="1920240" cy="190712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85725" indent="-85725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Angular 20</a:t>
            </a:r>
            <a:endParaRPr lang="en-US" dirty="0"/>
          </a:p>
          <a:p>
            <a:pPr marL="85725" indent="-85725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TypeScript</a:t>
            </a:r>
            <a:endParaRPr lang="en-US" dirty="0"/>
          </a:p>
          <a:p>
            <a:pPr marL="85725" indent="-85725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PrimeNG 20</a:t>
            </a:r>
            <a:endParaRPr lang="en-US" dirty="0"/>
          </a:p>
          <a:p>
            <a:pPr marL="85725" indent="-85725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Angular Signals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572000" y="532008"/>
            <a:ext cx="1920240" cy="5842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Хранение данных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572000" y="1134558"/>
            <a:ext cx="192024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219068"/>
            <a:ext cx="1920240" cy="190712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85725" indent="-85725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PostgreSQL 16</a:t>
            </a:r>
            <a:endParaRPr lang="en-US" dirty="0"/>
          </a:p>
          <a:p>
            <a:pPr marL="85725" indent="-85725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Redis 7</a:t>
            </a:r>
            <a:endParaRPr lang="en-US" dirty="0"/>
          </a:p>
          <a:p>
            <a:pPr marL="85725" indent="-85725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MinIO / AWS S3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629400" y="532008"/>
            <a:ext cx="1920240" cy="5842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Инфраструктура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629400" y="1134558"/>
            <a:ext cx="192024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9400" y="1219068"/>
            <a:ext cx="1920240" cy="190712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85725" indent="-85725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Docker</a:t>
            </a:r>
          </a:p>
          <a:p>
            <a:pPr marL="85725" indent="-85725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ea typeface="Times New Roman" pitchFamily="34" charset="-122"/>
                <a:cs typeface="Times New Roman" pitchFamily="34" charset="-120"/>
              </a:rPr>
              <a:t>GitHub</a:t>
            </a:r>
            <a:endParaRPr lang="en-US" dirty="0"/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3E70E886-0240-4FC4-A35C-F6A6FE49CB28}"/>
              </a:ext>
            </a:extLst>
          </p:cNvPr>
          <p:cNvSpPr/>
          <p:nvPr/>
        </p:nvSpPr>
        <p:spPr>
          <a:xfrm>
            <a:off x="8280000" y="4680000"/>
            <a:ext cx="468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ru-RU" sz="2000" dirty="0">
                <a:cs typeface="Times New Roman" pitchFamily="34" charset="-120"/>
              </a:rPr>
              <a:t>7</a:t>
            </a:r>
            <a:endParaRPr lang="en-US" sz="2000" dirty="0">
              <a:cs typeface="Times New Roman" pitchFamily="34" charset="-120"/>
            </a:endParaRPr>
          </a:p>
        </p:txBody>
      </p:sp>
      <p:pic>
        <p:nvPicPr>
          <p:cNvPr id="1026" name="Picture 2" descr="Файл:Csharp Logo.png — Википедия">
            <a:extLst>
              <a:ext uri="{FF2B5EF4-FFF2-40B4-BE49-F238E27FC236}">
                <a16:creationId xmlns:a16="http://schemas.microsoft.com/office/drawing/2014/main" id="{26595EA2-BFF9-4A9E-9498-4EA91CEE0B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9" t="18468" r="21214" b="18686"/>
          <a:stretch/>
        </p:blipFill>
        <p:spPr bwMode="auto">
          <a:xfrm>
            <a:off x="611944" y="3126194"/>
            <a:ext cx="1610751" cy="1765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ngular icon vector logo in (eps, svg) for free - Brandlogos.net">
            <a:extLst>
              <a:ext uri="{FF2B5EF4-FFF2-40B4-BE49-F238E27FC236}">
                <a16:creationId xmlns:a16="http://schemas.microsoft.com/office/drawing/2014/main" id="{ED0D1CB4-89F6-4C8F-83D2-676FEC9247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4503" y="3091818"/>
            <a:ext cx="1700434" cy="1799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Файл:Postgresql elephant.svg — Википедия">
            <a:extLst>
              <a:ext uri="{FF2B5EF4-FFF2-40B4-BE49-F238E27FC236}">
                <a16:creationId xmlns:a16="http://schemas.microsoft.com/office/drawing/2014/main" id="{39FC4840-CB9F-4C37-A3B2-AA5EEBC68F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8931" y="3160077"/>
            <a:ext cx="1646377" cy="1697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Docker Logo and symbol, meaning, history, PNG, brand">
            <a:extLst>
              <a:ext uri="{FF2B5EF4-FFF2-40B4-BE49-F238E27FC236}">
                <a16:creationId xmlns:a16="http://schemas.microsoft.com/office/drawing/2014/main" id="{B139148F-B633-495F-B17B-8BADC9F4CAA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57" r="16561" b="31832"/>
          <a:stretch/>
        </p:blipFill>
        <p:spPr bwMode="auto">
          <a:xfrm>
            <a:off x="6758145" y="3354485"/>
            <a:ext cx="1953855" cy="1274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0000" y="36000"/>
            <a:ext cx="8460000" cy="39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cs typeface="Times New Roman" pitchFamily="34" charset="-120"/>
              </a:rPr>
              <a:t>8. Архитектура системы</a:t>
            </a:r>
          </a:p>
        </p:txBody>
      </p:sp>
      <p:sp>
        <p:nvSpPr>
          <p:cNvPr id="3" name="Shape 1"/>
          <p:cNvSpPr/>
          <p:nvPr/>
        </p:nvSpPr>
        <p:spPr>
          <a:xfrm>
            <a:off x="432000" y="468000"/>
            <a:ext cx="828000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8C4839AD-EC31-408E-A6DA-27B8A88F6D27}"/>
              </a:ext>
            </a:extLst>
          </p:cNvPr>
          <p:cNvSpPr/>
          <p:nvPr/>
        </p:nvSpPr>
        <p:spPr>
          <a:xfrm>
            <a:off x="8280000" y="4680000"/>
            <a:ext cx="468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ru-RU" sz="2000" dirty="0">
                <a:cs typeface="Times New Roman" pitchFamily="34" charset="-120"/>
              </a:rPr>
              <a:t>8</a:t>
            </a:r>
            <a:endParaRPr lang="en-US" sz="2000" dirty="0">
              <a:cs typeface="Times New Roman" pitchFamily="34" charset="-12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76A3C2A-C16E-4090-BD16-E2FF87C77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538" y="581290"/>
            <a:ext cx="6216923" cy="4306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0000" y="36000"/>
            <a:ext cx="8460000" cy="39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cs typeface="Times New Roman" pitchFamily="34" charset="-120"/>
              </a:rPr>
              <a:t>9. Диаграмма вариантов использования</a:t>
            </a:r>
          </a:p>
        </p:txBody>
      </p:sp>
      <p:sp>
        <p:nvSpPr>
          <p:cNvPr id="3" name="Shape 1"/>
          <p:cNvSpPr/>
          <p:nvPr/>
        </p:nvSpPr>
        <p:spPr>
          <a:xfrm>
            <a:off x="432000" y="468000"/>
            <a:ext cx="828000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52B1A3B-E483-4B5B-A313-506294D37B05}"/>
              </a:ext>
            </a:extLst>
          </p:cNvPr>
          <p:cNvSpPr/>
          <p:nvPr/>
        </p:nvSpPr>
        <p:spPr>
          <a:xfrm>
            <a:off x="8280000" y="4680000"/>
            <a:ext cx="468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ru-RU" sz="2000" dirty="0">
                <a:cs typeface="Times New Roman" pitchFamily="34" charset="-120"/>
              </a:rPr>
              <a:t>9</a:t>
            </a:r>
            <a:endParaRPr lang="en-US" sz="2000" dirty="0">
              <a:cs typeface="Times New Roman" pitchFamily="34" charset="-12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22DEEC9-923C-4CA2-B6ED-3955BEBD47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868" y="632150"/>
            <a:ext cx="7326263" cy="44033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0000" y="36000"/>
            <a:ext cx="8460000" cy="39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cs typeface="Times New Roman" pitchFamily="34" charset="-120"/>
              </a:rPr>
              <a:t>9. Диаграмма вариантов использования</a:t>
            </a:r>
          </a:p>
        </p:txBody>
      </p:sp>
      <p:sp>
        <p:nvSpPr>
          <p:cNvPr id="3" name="Shape 1"/>
          <p:cNvSpPr/>
          <p:nvPr/>
        </p:nvSpPr>
        <p:spPr>
          <a:xfrm>
            <a:off x="432000" y="468000"/>
            <a:ext cx="828000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52B1A3B-E483-4B5B-A313-506294D37B05}"/>
              </a:ext>
            </a:extLst>
          </p:cNvPr>
          <p:cNvSpPr/>
          <p:nvPr/>
        </p:nvSpPr>
        <p:spPr>
          <a:xfrm>
            <a:off x="8280000" y="4680000"/>
            <a:ext cx="468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ru-RU" sz="2000" dirty="0">
                <a:cs typeface="Times New Roman" pitchFamily="34" charset="-120"/>
              </a:rPr>
              <a:t>10</a:t>
            </a:r>
            <a:endParaRPr lang="en-US" sz="2000" dirty="0">
              <a:cs typeface="Times New Roman" pitchFamily="34" charset="-12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22DEEC9-923C-4CA2-B6ED-3955BEBD47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339" y="632150"/>
            <a:ext cx="7357321" cy="440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54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0000" y="36000"/>
            <a:ext cx="8460000" cy="39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cs typeface="Times New Roman" pitchFamily="34" charset="-120"/>
              </a:rPr>
              <a:t>9. Диаграмма вариантов использования</a:t>
            </a:r>
          </a:p>
        </p:txBody>
      </p:sp>
      <p:sp>
        <p:nvSpPr>
          <p:cNvPr id="3" name="Shape 1"/>
          <p:cNvSpPr/>
          <p:nvPr/>
        </p:nvSpPr>
        <p:spPr>
          <a:xfrm>
            <a:off x="432000" y="468000"/>
            <a:ext cx="828000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52B1A3B-E483-4B5B-A313-506294D37B05}"/>
              </a:ext>
            </a:extLst>
          </p:cNvPr>
          <p:cNvSpPr/>
          <p:nvPr/>
        </p:nvSpPr>
        <p:spPr>
          <a:xfrm>
            <a:off x="8280000" y="4680000"/>
            <a:ext cx="468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ru-RU" sz="2000" dirty="0">
                <a:cs typeface="Times New Roman" pitchFamily="34" charset="-120"/>
              </a:rPr>
              <a:t>11</a:t>
            </a:r>
            <a:endParaRPr lang="en-US" sz="2000" dirty="0">
              <a:cs typeface="Times New Roman" pitchFamily="34" charset="-12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22DEEC9-923C-4CA2-B6ED-3955BEBD47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997" y="632151"/>
            <a:ext cx="8582005" cy="4359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1404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0000" y="36000"/>
            <a:ext cx="8460000" cy="39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cs typeface="Times New Roman" pitchFamily="34" charset="-120"/>
              </a:rPr>
              <a:t>9. Диаграмма вариантов использования</a:t>
            </a:r>
          </a:p>
        </p:txBody>
      </p:sp>
      <p:sp>
        <p:nvSpPr>
          <p:cNvPr id="3" name="Shape 1"/>
          <p:cNvSpPr/>
          <p:nvPr/>
        </p:nvSpPr>
        <p:spPr>
          <a:xfrm>
            <a:off x="432000" y="468000"/>
            <a:ext cx="828000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52B1A3B-E483-4B5B-A313-506294D37B05}"/>
              </a:ext>
            </a:extLst>
          </p:cNvPr>
          <p:cNvSpPr/>
          <p:nvPr/>
        </p:nvSpPr>
        <p:spPr>
          <a:xfrm>
            <a:off x="8280000" y="4680000"/>
            <a:ext cx="468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ru-RU" sz="2000" dirty="0">
                <a:cs typeface="Times New Roman" pitchFamily="34" charset="-120"/>
              </a:rPr>
              <a:t>12</a:t>
            </a:r>
            <a:endParaRPr lang="en-US" sz="2000" dirty="0">
              <a:cs typeface="Times New Roman" pitchFamily="34" charset="-12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22DEEC9-923C-4CA2-B6ED-3955BEBD47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04" y="632150"/>
            <a:ext cx="8008991" cy="440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794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0000" y="36000"/>
            <a:ext cx="8460000" cy="39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cs typeface="Times New Roman" pitchFamily="34" charset="-120"/>
              </a:rPr>
              <a:t>1</a:t>
            </a:r>
            <a:r>
              <a:rPr lang="ru-RU" sz="2800" b="1" dirty="0">
                <a:cs typeface="Times New Roman" pitchFamily="34" charset="-120"/>
              </a:rPr>
              <a:t>0</a:t>
            </a:r>
            <a:r>
              <a:rPr lang="en-US" sz="2800" b="1" dirty="0">
                <a:cs typeface="Times New Roman" pitchFamily="34" charset="-120"/>
              </a:rPr>
              <a:t>. Схема базы данных</a:t>
            </a:r>
          </a:p>
        </p:txBody>
      </p:sp>
      <p:sp>
        <p:nvSpPr>
          <p:cNvPr id="3" name="Shape 1"/>
          <p:cNvSpPr/>
          <p:nvPr/>
        </p:nvSpPr>
        <p:spPr>
          <a:xfrm>
            <a:off x="432000" y="468000"/>
            <a:ext cx="828000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9D1E9CBE-7FFF-4B62-A01A-1478B0F8B87C}"/>
              </a:ext>
            </a:extLst>
          </p:cNvPr>
          <p:cNvSpPr/>
          <p:nvPr/>
        </p:nvSpPr>
        <p:spPr>
          <a:xfrm>
            <a:off x="8280000" y="4680000"/>
            <a:ext cx="468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ru-RU" sz="2000" dirty="0">
                <a:cs typeface="Times New Roman" pitchFamily="34" charset="-120"/>
              </a:rPr>
              <a:t>13</a:t>
            </a:r>
            <a:endParaRPr lang="en-US" sz="2000" dirty="0">
              <a:cs typeface="Times New Roman" pitchFamily="34" charset="-12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2D7FACC-07DF-4F39-BB6A-E29C3EA1C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270" y="531432"/>
            <a:ext cx="6309459" cy="443959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0000" y="36000"/>
            <a:ext cx="8509680" cy="39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cs typeface="Times New Roman" pitchFamily="34" charset="-120"/>
              </a:rPr>
              <a:t>1</a:t>
            </a:r>
            <a:r>
              <a:rPr lang="ru-RU" sz="2800" b="1" dirty="0">
                <a:cs typeface="Times New Roman" pitchFamily="34" charset="-120"/>
              </a:rPr>
              <a:t>1</a:t>
            </a:r>
            <a:r>
              <a:rPr lang="en-US" sz="2800" b="1" dirty="0">
                <a:cs typeface="Times New Roman" pitchFamily="34" charset="-120"/>
              </a:rPr>
              <a:t>. Жизненный цикл: запрос на научное руководство</a:t>
            </a:r>
          </a:p>
        </p:txBody>
      </p:sp>
      <p:sp>
        <p:nvSpPr>
          <p:cNvPr id="3" name="Shape 1"/>
          <p:cNvSpPr/>
          <p:nvPr/>
        </p:nvSpPr>
        <p:spPr>
          <a:xfrm>
            <a:off x="432000" y="468000"/>
            <a:ext cx="828000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372" y="979864"/>
            <a:ext cx="6801255" cy="3472472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6A584A17-8269-4AE9-9101-005865E1D42F}"/>
              </a:ext>
            </a:extLst>
          </p:cNvPr>
          <p:cNvSpPr/>
          <p:nvPr/>
        </p:nvSpPr>
        <p:spPr>
          <a:xfrm>
            <a:off x="8280000" y="4680000"/>
            <a:ext cx="468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ru-RU" sz="2000" dirty="0">
                <a:cs typeface="Times New Roman" pitchFamily="34" charset="-120"/>
              </a:rPr>
              <a:t>14</a:t>
            </a:r>
            <a:endParaRPr lang="en-US" sz="2000" dirty="0">
              <a:cs typeface="Times New Roman" pitchFamily="34" charset="-12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0000" y="36000"/>
            <a:ext cx="8460000" cy="39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cs typeface="Times New Roman" pitchFamily="34" charset="-120"/>
              </a:rPr>
              <a:t>1</a:t>
            </a:r>
            <a:r>
              <a:rPr lang="ru-RU" sz="2800" b="1" dirty="0">
                <a:cs typeface="Times New Roman" pitchFamily="34" charset="-120"/>
              </a:rPr>
              <a:t>2</a:t>
            </a:r>
            <a:r>
              <a:rPr lang="en-US" sz="2800" b="1" dirty="0">
                <a:cs typeface="Times New Roman" pitchFamily="34" charset="-120"/>
              </a:rPr>
              <a:t>. Жизненный цикл: заявка на тему ВКР</a:t>
            </a:r>
          </a:p>
        </p:txBody>
      </p:sp>
      <p:sp>
        <p:nvSpPr>
          <p:cNvPr id="3" name="Shape 1"/>
          <p:cNvSpPr/>
          <p:nvPr/>
        </p:nvSpPr>
        <p:spPr>
          <a:xfrm>
            <a:off x="432000" y="468000"/>
            <a:ext cx="828000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992" y="758561"/>
            <a:ext cx="5302016" cy="3937654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04F5B82B-72A1-4603-AB0E-3B442BBF3EF9}"/>
              </a:ext>
            </a:extLst>
          </p:cNvPr>
          <p:cNvSpPr/>
          <p:nvPr/>
        </p:nvSpPr>
        <p:spPr>
          <a:xfrm>
            <a:off x="8280000" y="4680000"/>
            <a:ext cx="468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ru-RU" sz="2000" dirty="0">
                <a:cs typeface="Times New Roman" pitchFamily="34" charset="-120"/>
              </a:rPr>
              <a:t>15</a:t>
            </a:r>
            <a:endParaRPr lang="en-US" sz="2000" dirty="0">
              <a:cs typeface="Times New Roman" pitchFamily="34" charset="-12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0000" y="36000"/>
            <a:ext cx="8460000" cy="39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cs typeface="Times New Roman" pitchFamily="34" charset="-120"/>
              </a:rPr>
              <a:t>13. Интерфейс системы</a:t>
            </a:r>
          </a:p>
        </p:txBody>
      </p:sp>
      <p:sp>
        <p:nvSpPr>
          <p:cNvPr id="3" name="Shape 1"/>
          <p:cNvSpPr/>
          <p:nvPr/>
        </p:nvSpPr>
        <p:spPr>
          <a:xfrm>
            <a:off x="432000" y="468000"/>
            <a:ext cx="828000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80B4974-3591-475E-BA62-24FB653B2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176944" y="540000"/>
            <a:ext cx="4784742" cy="432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ECAE324B-5BFC-4B03-9158-D1F506EDA5B7}"/>
              </a:ext>
            </a:extLst>
          </p:cNvPr>
          <p:cNvSpPr/>
          <p:nvPr/>
        </p:nvSpPr>
        <p:spPr>
          <a:xfrm>
            <a:off x="8280000" y="4680000"/>
            <a:ext cx="468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ru-RU" sz="2000" dirty="0">
                <a:cs typeface="Times New Roman" pitchFamily="34" charset="-120"/>
              </a:rPr>
              <a:t>16</a:t>
            </a:r>
            <a:endParaRPr lang="en-US" sz="2000" dirty="0">
              <a:cs typeface="Times New Roman" pitchFamily="34" charset="-12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0000" y="36000"/>
            <a:ext cx="8460000" cy="39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cs typeface="Times New Roman" pitchFamily="34" charset="-120"/>
              </a:rPr>
              <a:t>13. Интерфейс системы</a:t>
            </a:r>
          </a:p>
        </p:txBody>
      </p:sp>
      <p:sp>
        <p:nvSpPr>
          <p:cNvPr id="3" name="Shape 1"/>
          <p:cNvSpPr/>
          <p:nvPr/>
        </p:nvSpPr>
        <p:spPr>
          <a:xfrm>
            <a:off x="432000" y="468000"/>
            <a:ext cx="828000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013F5FE-4C74-426B-A7F8-B784D7BBEF2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280"/>
          <a:stretch/>
        </p:blipFill>
        <p:spPr>
          <a:xfrm>
            <a:off x="180000" y="540000"/>
            <a:ext cx="8762777" cy="4320000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F635A379-6FDA-466E-8C2B-FB8A2605861B}"/>
              </a:ext>
            </a:extLst>
          </p:cNvPr>
          <p:cNvSpPr/>
          <p:nvPr/>
        </p:nvSpPr>
        <p:spPr>
          <a:xfrm>
            <a:off x="8280000" y="4680000"/>
            <a:ext cx="468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ru-RU" sz="2000" dirty="0">
                <a:cs typeface="Times New Roman" pitchFamily="34" charset="-120"/>
              </a:rPr>
              <a:t>17</a:t>
            </a:r>
            <a:endParaRPr lang="en-US" sz="2000" dirty="0">
              <a:cs typeface="Times New Roman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737868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432000" y="468000"/>
            <a:ext cx="828000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86B39A5-E1A6-42A0-8EAE-1DDFD328AF7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656"/>
          <a:stretch/>
        </p:blipFill>
        <p:spPr>
          <a:xfrm>
            <a:off x="180000" y="540000"/>
            <a:ext cx="8798868" cy="4320000"/>
          </a:xfrm>
          <a:prstGeom prst="rect">
            <a:avLst/>
          </a:prstGeom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04A5FA85-F1D1-4AC2-A3CD-4717ECB0FB3D}"/>
              </a:ext>
            </a:extLst>
          </p:cNvPr>
          <p:cNvSpPr/>
          <p:nvPr/>
        </p:nvSpPr>
        <p:spPr>
          <a:xfrm>
            <a:off x="360000" y="36000"/>
            <a:ext cx="8460000" cy="39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cs typeface="Times New Roman" pitchFamily="34" charset="-120"/>
              </a:rPr>
              <a:t>13. Интерфейс системы</a:t>
            </a: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F1296587-7BD6-4336-BFFD-9931797F89C9}"/>
              </a:ext>
            </a:extLst>
          </p:cNvPr>
          <p:cNvSpPr/>
          <p:nvPr/>
        </p:nvSpPr>
        <p:spPr>
          <a:xfrm>
            <a:off x="8280000" y="4680000"/>
            <a:ext cx="468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ru-RU" sz="2000" dirty="0">
                <a:cs typeface="Times New Roman" pitchFamily="34" charset="-120"/>
              </a:rPr>
              <a:t>18</a:t>
            </a:r>
            <a:endParaRPr lang="en-US" sz="2000" dirty="0">
              <a:cs typeface="Times New Roman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546450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432000" y="468000"/>
            <a:ext cx="828000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147DEBF-441B-479A-8A6A-149CD7A0831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527"/>
          <a:stretch/>
        </p:blipFill>
        <p:spPr>
          <a:xfrm>
            <a:off x="180000" y="540000"/>
            <a:ext cx="8786442" cy="4320000"/>
          </a:xfrm>
          <a:prstGeom prst="rect">
            <a:avLst/>
          </a:prstGeom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3644CD39-AFF9-43CC-8EF6-F658D32EAC1A}"/>
              </a:ext>
            </a:extLst>
          </p:cNvPr>
          <p:cNvSpPr/>
          <p:nvPr/>
        </p:nvSpPr>
        <p:spPr>
          <a:xfrm>
            <a:off x="360000" y="36000"/>
            <a:ext cx="8460000" cy="39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cs typeface="Times New Roman" pitchFamily="34" charset="-120"/>
              </a:rPr>
              <a:t>13. Интерфейс системы</a:t>
            </a: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4F90D77-0DB9-421F-87EA-1EF46248E6BF}"/>
              </a:ext>
            </a:extLst>
          </p:cNvPr>
          <p:cNvSpPr/>
          <p:nvPr/>
        </p:nvSpPr>
        <p:spPr>
          <a:xfrm>
            <a:off x="8280000" y="4680000"/>
            <a:ext cx="468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ru-RU" sz="2000" dirty="0">
                <a:cs typeface="Times New Roman" pitchFamily="34" charset="-120"/>
              </a:rPr>
              <a:t>19</a:t>
            </a:r>
            <a:endParaRPr lang="en-US" sz="2000" dirty="0">
              <a:cs typeface="Times New Roman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551629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432000" y="468000"/>
            <a:ext cx="828000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421F25A-32A1-410D-8393-38CE50E4E04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269"/>
          <a:stretch/>
        </p:blipFill>
        <p:spPr>
          <a:xfrm>
            <a:off x="180000" y="540000"/>
            <a:ext cx="8761691" cy="4320000"/>
          </a:xfrm>
          <a:prstGeom prst="rect">
            <a:avLst/>
          </a:prstGeom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48E5EE78-267F-44FB-AB58-997AF1AE1290}"/>
              </a:ext>
            </a:extLst>
          </p:cNvPr>
          <p:cNvSpPr/>
          <p:nvPr/>
        </p:nvSpPr>
        <p:spPr>
          <a:xfrm>
            <a:off x="360000" y="36000"/>
            <a:ext cx="8460000" cy="39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cs typeface="Times New Roman" pitchFamily="34" charset="-120"/>
              </a:rPr>
              <a:t>13. Интерфейс системы</a:t>
            </a: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F36D6E1B-734F-4ADC-A9EF-4AEF75A98E92}"/>
              </a:ext>
            </a:extLst>
          </p:cNvPr>
          <p:cNvSpPr/>
          <p:nvPr/>
        </p:nvSpPr>
        <p:spPr>
          <a:xfrm>
            <a:off x="8280000" y="4680000"/>
            <a:ext cx="468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ru-RU" sz="2000" dirty="0">
                <a:cs typeface="Times New Roman" pitchFamily="34" charset="-120"/>
              </a:rPr>
              <a:t>20</a:t>
            </a:r>
            <a:endParaRPr lang="en-US" sz="2000" dirty="0">
              <a:cs typeface="Times New Roman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883880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432000" y="468000"/>
            <a:ext cx="828000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5F2380F-0F06-445C-A028-98E041CA56E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527"/>
          <a:stretch/>
        </p:blipFill>
        <p:spPr>
          <a:xfrm>
            <a:off x="180000" y="540000"/>
            <a:ext cx="8786442" cy="4320000"/>
          </a:xfrm>
          <a:prstGeom prst="rect">
            <a:avLst/>
          </a:prstGeom>
        </p:spPr>
      </p:pic>
      <p:sp>
        <p:nvSpPr>
          <p:cNvPr id="7" name="Text 0">
            <a:extLst>
              <a:ext uri="{FF2B5EF4-FFF2-40B4-BE49-F238E27FC236}">
                <a16:creationId xmlns:a16="http://schemas.microsoft.com/office/drawing/2014/main" id="{E7DA4D2B-5797-4BE5-8642-54E484502603}"/>
              </a:ext>
            </a:extLst>
          </p:cNvPr>
          <p:cNvSpPr/>
          <p:nvPr/>
        </p:nvSpPr>
        <p:spPr>
          <a:xfrm>
            <a:off x="360000" y="36000"/>
            <a:ext cx="8460000" cy="39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cs typeface="Times New Roman" pitchFamily="34" charset="-120"/>
              </a:rPr>
              <a:t>13. Интерфейс системы</a:t>
            </a: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97CEC75B-EFE4-44D3-A9AC-23A1447FE557}"/>
              </a:ext>
            </a:extLst>
          </p:cNvPr>
          <p:cNvSpPr/>
          <p:nvPr/>
        </p:nvSpPr>
        <p:spPr>
          <a:xfrm>
            <a:off x="8280000" y="4680000"/>
            <a:ext cx="468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ru-RU" sz="2000" dirty="0">
                <a:cs typeface="Times New Roman" pitchFamily="34" charset="-120"/>
              </a:rPr>
              <a:t>21</a:t>
            </a:r>
            <a:endParaRPr lang="en-US" sz="2000" dirty="0">
              <a:cs typeface="Times New Roman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979215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0000" y="36000"/>
            <a:ext cx="8460000" cy="39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cs typeface="Times New Roman" pitchFamily="34" charset="-120"/>
              </a:rPr>
              <a:t>14. Тестирование</a:t>
            </a:r>
          </a:p>
        </p:txBody>
      </p:sp>
      <p:sp>
        <p:nvSpPr>
          <p:cNvPr id="3" name="Shape 1"/>
          <p:cNvSpPr/>
          <p:nvPr/>
        </p:nvSpPr>
        <p:spPr>
          <a:xfrm>
            <a:off x="432000" y="468000"/>
            <a:ext cx="828000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2000" y="564120"/>
            <a:ext cx="8412480" cy="39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00"/>
                </a:solidFill>
                <a:latin typeface="Calibri (Основной текст)"/>
                <a:ea typeface="Times New Roman" pitchFamily="34" charset="-122"/>
                <a:cs typeface="Times New Roman" pitchFamily="34" charset="-120"/>
              </a:rPr>
              <a:t>Состав тестов</a:t>
            </a:r>
            <a:endParaRPr lang="en-US" sz="2400" dirty="0">
              <a:latin typeface="Calibri (Основной текст)"/>
            </a:endParaRPr>
          </a:p>
        </p:txBody>
      </p:sp>
      <p:sp>
        <p:nvSpPr>
          <p:cNvPr id="6" name="Text 4"/>
          <p:cNvSpPr/>
          <p:nvPr/>
        </p:nvSpPr>
        <p:spPr>
          <a:xfrm>
            <a:off x="365760" y="1028808"/>
            <a:ext cx="8412480" cy="2183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Calibri (Основной текст)"/>
                <a:ea typeface="Times New Roman" pitchFamily="34" charset="-122"/>
                <a:cs typeface="Times New Roman" pitchFamily="34" charset="-120"/>
              </a:rPr>
              <a:t>Unit-тесты бизнес-логики: переходы ЖЦ запроса на руководство и заявки на тему.</a:t>
            </a:r>
            <a:endParaRPr lang="en-US" sz="2000" dirty="0">
              <a:latin typeface="Calibri (Основной текст)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Calibri (Основной текст)"/>
                <a:ea typeface="Times New Roman" pitchFamily="34" charset="-122"/>
                <a:cs typeface="Times New Roman" pitchFamily="34" charset="-120"/>
              </a:rPr>
              <a:t>Unit-тесты разграничения прав: запрещённые действия по ролям.</a:t>
            </a:r>
            <a:endParaRPr lang="en-US" sz="2000" dirty="0">
              <a:latin typeface="Calibri (Основной текст)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Calibri (Основной текст)"/>
                <a:ea typeface="Times New Roman" pitchFamily="34" charset="-122"/>
                <a:cs typeface="Times New Roman" pitchFamily="34" charset="-120"/>
              </a:rPr>
              <a:t>Integration-тесты: полный сценарий от регистрации заявки до утверждения.</a:t>
            </a:r>
            <a:endParaRPr lang="en-US" sz="2000" dirty="0">
              <a:latin typeface="Calibri (Основной текст)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Calibri (Основной текст)"/>
                <a:ea typeface="Times New Roman" pitchFamily="34" charset="-122"/>
                <a:cs typeface="Times New Roman" pitchFamily="34" charset="-120"/>
              </a:rPr>
              <a:t>Тесты параллельных операций: конкурентные заявки на одну тему.</a:t>
            </a:r>
            <a:endParaRPr lang="en-US" sz="2000" dirty="0">
              <a:latin typeface="Calibri (Основной текст)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EA0DBF7F-D1E7-4F06-B45A-89ACC86E8F72}"/>
              </a:ext>
            </a:extLst>
          </p:cNvPr>
          <p:cNvSpPr/>
          <p:nvPr/>
        </p:nvSpPr>
        <p:spPr>
          <a:xfrm>
            <a:off x="8280000" y="4680000"/>
            <a:ext cx="468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ru-RU" sz="2000" dirty="0">
                <a:cs typeface="Times New Roman" pitchFamily="34" charset="-120"/>
              </a:rPr>
              <a:t>22</a:t>
            </a:r>
            <a:endParaRPr lang="en-US" sz="2000" dirty="0">
              <a:cs typeface="Times New Roman" pitchFamily="34" charset="-12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0000" y="36000"/>
            <a:ext cx="8460000" cy="39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cs typeface="Times New Roman" pitchFamily="34" charset="-120"/>
              </a:rPr>
              <a:t>15. Заключение</a:t>
            </a:r>
          </a:p>
        </p:txBody>
      </p:sp>
      <p:sp>
        <p:nvSpPr>
          <p:cNvPr id="3" name="Shape 1"/>
          <p:cNvSpPr/>
          <p:nvPr/>
        </p:nvSpPr>
        <p:spPr>
          <a:xfrm>
            <a:off x="432000" y="468000"/>
            <a:ext cx="828000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0000" y="563472"/>
            <a:ext cx="8412480" cy="368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00"/>
                </a:solidFill>
                <a:latin typeface="Calibri (Основной текст)"/>
                <a:ea typeface="Times New Roman" pitchFamily="34" charset="-122"/>
                <a:cs typeface="Times New Roman" pitchFamily="34" charset="-120"/>
              </a:rPr>
              <a:t>В результате выполнения работы:</a:t>
            </a:r>
            <a:endParaRPr lang="en-US" sz="2400" dirty="0">
              <a:latin typeface="Calibri (Основной текст)"/>
            </a:endParaRPr>
          </a:p>
        </p:txBody>
      </p:sp>
      <p:sp>
        <p:nvSpPr>
          <p:cNvPr id="6" name="Text 4"/>
          <p:cNvSpPr/>
          <p:nvPr/>
        </p:nvSpPr>
        <p:spPr>
          <a:xfrm>
            <a:off x="365760" y="932039"/>
            <a:ext cx="8412480" cy="28308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Проведён анализ предметной области и существующих систем управления учебным процессом.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Сформулированы функциональные и нефункциональные требования к системе.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Спроектирована архитектура системы</a:t>
            </a:r>
            <a:r>
              <a:rPr lang="en-US" dirty="0"/>
              <a:t>.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Реализован двухэтапный алгоритм согласования заявок с управлением жизненными циклами.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Разработаны модуль коммуникации, ролевая модель для четырёх типов пользователей и подсистема уведомлений.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Выполнено тестирование бизнес-логики</a:t>
            </a:r>
            <a:r>
              <a:rPr lang="en-US" dirty="0"/>
              <a:t> </a:t>
            </a:r>
            <a:r>
              <a:rPr lang="ru-RU" dirty="0"/>
              <a:t>и разграничения прав доступа.</a:t>
            </a:r>
          </a:p>
        </p:txBody>
      </p:sp>
      <p:sp>
        <p:nvSpPr>
          <p:cNvPr id="8" name="Text 6"/>
          <p:cNvSpPr/>
          <p:nvPr/>
        </p:nvSpPr>
        <p:spPr>
          <a:xfrm>
            <a:off x="360000" y="3566160"/>
            <a:ext cx="8412480" cy="1360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ru-RU" sz="2000" b="1" dirty="0">
                <a:solidFill>
                  <a:srgbClr val="000000"/>
                </a:solidFill>
                <a:latin typeface="Calibri (Основной текст)"/>
                <a:ea typeface="Times New Roman" pitchFamily="34" charset="-122"/>
                <a:cs typeface="Times New Roman" pitchFamily="34" charset="-120"/>
              </a:rPr>
              <a:t>Цель достигнута </a:t>
            </a:r>
            <a:r>
              <a:rPr lang="ru-RU" sz="2000" dirty="0">
                <a:solidFill>
                  <a:srgbClr val="000000"/>
                </a:solidFill>
                <a:latin typeface="Calibri (Основной текст)"/>
                <a:ea typeface="Times New Roman" pitchFamily="34" charset="-122"/>
                <a:cs typeface="Times New Roman" pitchFamily="34" charset="-120"/>
              </a:rPr>
              <a:t>– разработано </a:t>
            </a:r>
            <a:r>
              <a:rPr lang="en-US" sz="2000" dirty="0">
                <a:solidFill>
                  <a:srgbClr val="000000"/>
                </a:solidFill>
                <a:latin typeface="Calibri (Основной текст)"/>
                <a:ea typeface="Times New Roman" pitchFamily="34" charset="-122"/>
                <a:cs typeface="Times New Roman" pitchFamily="34" charset="-120"/>
              </a:rPr>
              <a:t>специализированное решение, объединяющее каталог тем и преподавателей, регламентированный ЖЦ заявки, чат и архив ВКР в одном веб-сервисе</a:t>
            </a:r>
            <a:endParaRPr lang="en-US" sz="2000" dirty="0">
              <a:latin typeface="Calibri (Основной текст)"/>
            </a:endParaRPr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86832835-0EC9-4467-99CA-0FB3E95B42EC}"/>
              </a:ext>
            </a:extLst>
          </p:cNvPr>
          <p:cNvSpPr/>
          <p:nvPr/>
        </p:nvSpPr>
        <p:spPr>
          <a:xfrm>
            <a:off x="8280000" y="4680000"/>
            <a:ext cx="468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ru-RU" sz="2000" dirty="0">
                <a:cs typeface="Times New Roman" pitchFamily="34" charset="-120"/>
              </a:rPr>
              <a:t>23</a:t>
            </a:r>
            <a:endParaRPr lang="en-US" sz="2000" dirty="0">
              <a:cs typeface="Times New Roman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755</Words>
  <Application>Microsoft Office PowerPoint</Application>
  <PresentationFormat>Экран (16:9)</PresentationFormat>
  <Paragraphs>182</Paragraphs>
  <Slides>23</Slides>
  <Notes>23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28" baseType="lpstr">
      <vt:lpstr>Arial</vt:lpstr>
      <vt:lpstr>Calibri</vt:lpstr>
      <vt:lpstr>Calibri (Основной текст)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прототипа сервиса по выбору научного руководителя для ВКР</dc:title>
  <dc:subject>PptxGenJS Presentation</dc:subject>
  <dc:creator>Ильин А.А.</dc:creator>
  <cp:lastModifiedBy>Ильин Айдар Альбертович</cp:lastModifiedBy>
  <cp:revision>72</cp:revision>
  <dcterms:created xsi:type="dcterms:W3CDTF">2026-05-26T11:41:09Z</dcterms:created>
  <dcterms:modified xsi:type="dcterms:W3CDTF">2026-06-10T17:46:27Z</dcterms:modified>
</cp:coreProperties>
</file>