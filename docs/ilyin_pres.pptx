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  <p:sldId id="268" r:id="rId14"/>
    <p:sldId id="271" r:id="rId15"/>
    <p:sldId id="272" r:id="rId16"/>
    <p:sldId id="273" r:id="rId17"/>
    <p:sldId id="274" r:id="rId18"/>
    <p:sldId id="275" r:id="rId19"/>
    <p:sldId id="269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54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889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981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905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1376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145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402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МИНИСТЕРСТВО НАУКИ И ВЫСШЕГО ОБРАЗОВАНИЯ РОССИЙСКОЙ ФЕДЕРАЦИИ
КНИТУ-КАИ · Кафедра прикладной математики и информатики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ВЫПУСКНАЯ КВАЛИФИКАЦИОННАЯ РАБОТ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«Разработка прототипа сервиса по выбору научного руководителя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для выпускных квалификационных работ в высшем учебном заведении»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Обучающийся группы 4411:  </a:t>
            </a:r>
            <a:r>
              <a:rPr lang="en-US" sz="15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Ильин Айдар Альбертович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5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Р</a:t>
            </a:r>
            <a:r>
              <a:rPr lang="en-US" sz="15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уководитель:  </a:t>
            </a:r>
            <a:r>
              <a:rPr lang="ru-RU" sz="15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доцент кафедры ПМИ </a:t>
            </a:r>
            <a:r>
              <a:rPr lang="ru-RU" sz="15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Валитова Н.Л.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ea typeface="Times New Roman" pitchFamily="34" charset="-122"/>
                <a:cs typeface="Times New Roman" pitchFamily="34" charset="-120"/>
              </a:rPr>
              <a:t>Направление: 09.03.04 Программная инженерия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8620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9136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Казань, 2026 г.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/>
          </p:cNvSpPr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ea typeface="Times New Roman" pitchFamily="34" charset="-122"/>
                <a:cs typeface="Times New Roman" pitchFamily="34" charset="-120"/>
              </a:rPr>
              <a:t>2. Актуальность и цель работы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2 / 20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57031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Актуальность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942996"/>
            <a:ext cx="8412480" cy="20196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Процесс выбора научного руководителя и темы ВКР ведётся вручную: бумажные заявления, электронная почта, таблицы</a:t>
            </a:r>
            <a:r>
              <a:rPr lang="ru-RU" sz="20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0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Отсутствует единый регламентированный цифровой процесс согласования</a:t>
            </a:r>
            <a:r>
              <a:rPr lang="ru-RU" sz="20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0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Разрозненность данных и невозможность отслеживания статуса заявки в реальном времени</a:t>
            </a:r>
            <a:r>
              <a:rPr lang="ru-RU" sz="20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3015283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Цель работы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3404036"/>
            <a:ext cx="8412480" cy="958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Повышение эффективности процесса организации ВКР за счёт разработки прототипа автоматизированной программно-информационной системы выбора научного руководителя и темы ВКР в высшем учебном заведении.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3. Задачи работы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31432"/>
            <a:ext cx="8412480" cy="4525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Анализ предметной области и формирование требований к автоматизации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Сравнительный анализ существующих систем управления учебным процессом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Формулировка функциональных и нефункциональных требований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Выбор и обоснование технологического стека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Проектирование архитектуры по принципам Clean Architecture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Разработка реляционной модели данных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Реализация алгоритма согласования заявок (двухэтапный 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жизненный цикл(ЖЦ)</a:t>
            </a: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Разработка модуля коммуникации (чат в рамках заявки)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Реализация ролевой модели доступа (студент, преподаватель, зав. кафедрой, администратор)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Реализация подсистемы уведомлений с дублированием по e-mail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Тестирование: бизнес-логика, разграничение прав, параллельные операции</a:t>
            </a:r>
            <a:r>
              <a:rPr lang="ru-RU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B91F405-1FAF-4138-891D-372053631F7C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3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4. Предметная область. Выявленные проблемы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4142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Отсутствие единого регламентированного процесса</a:t>
            </a:r>
            <a:endParaRPr lang="ru-RU" b="1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Нет явных статусов заявки и единой точки контроля для всех участников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Ручной учёт и бумажный документооборот</a:t>
            </a:r>
            <a:endParaRPr lang="ru-RU" b="1" dirty="0">
              <a:solidFill>
                <a:srgbClr val="000000"/>
              </a:solidFill>
              <a:ea typeface="Times New Roman" pitchFamily="34" charset="-122"/>
              <a:cs typeface="Times New Roman" pitchFamily="34" charset="-12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Высок риск конфликтов при одновременном выборе одной темы разными студентами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Ограниченная коммуникация в рамках заявки</a:t>
            </a:r>
            <a:endParaRPr lang="ru-RU" b="1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Обсуждение ведётся в мессенджерах, история не привязана к заявке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Многократное оформление бумажных заявлений</a:t>
            </a:r>
            <a:endParaRPr lang="ru-RU" b="1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Любой отказ требует повторного оформления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Затруднённое формирование отчётности</a:t>
            </a:r>
            <a:endParaRPr lang="ru-RU" b="1" dirty="0"/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Данные разрозненны — сводная аналитика требует ручной агрегации</a:t>
            </a:r>
            <a:endParaRPr lang="en-US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6DA7E51-120F-49D3-BA99-ADDA866242B0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4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5. Анализ существующих решений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061729"/>
              </p:ext>
            </p:extLst>
          </p:nvPr>
        </p:nvGraphicFramePr>
        <p:xfrm>
          <a:off x="431999" y="531433"/>
          <a:ext cx="8279999" cy="4095816"/>
        </p:xfrm>
        <a:graphic>
          <a:graphicData uri="http://schemas.openxmlformats.org/drawingml/2006/table">
            <a:tbl>
              <a:tblPr/>
              <a:tblGrid>
                <a:gridCol w="3424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5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9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Критерий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Moodle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ELMA365/Битрикс24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1С: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Университет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Разраба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ываемая</a:t>
                      </a:r>
                      <a:r>
                        <a:rPr lang="ru-RU" sz="16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система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Каталог тем и преподавателей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Регламентированный процесс заявки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Чат в рамках заявки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2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Роли студент / преподаватель / зав. каф.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Архив защищённых ВКР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Аналитика и экспорт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Специализация под задачу ВКР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5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Простота внедрения в вузе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±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CC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−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6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+</a:t>
                      </a:r>
                      <a:endParaRPr lang="en-US" sz="16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316080" y="484250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08080"/>
                </a:solidFill>
                <a:ea typeface="Times New Roman" pitchFamily="34" charset="-122"/>
                <a:cs typeface="Times New Roman" pitchFamily="34" charset="-120"/>
              </a:rPr>
              <a:t>«+» — удовлетворён; «±» — частично / при доработке; «−» — не предусмотрен</a:t>
            </a:r>
            <a:endParaRPr lang="en-US" sz="11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74ED735-BA6F-4637-97A9-4469B80990A2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5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6. Требования к системе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31432"/>
            <a:ext cx="4114800" cy="70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Функциональные требования</a:t>
            </a:r>
            <a:r>
              <a:rPr lang="ru-RU" sz="24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206240" cy="387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4 роли: студент, преподаватель, зав. кафедрой, администратор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Каталог преподавателей с лимитом и фильтрацией тем ВКР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ЖЦ</a:t>
            </a: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 запроса на руководство (4 статуса)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ЖЦ заявки на тему ВКР (6 статусов + журнал)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Чат в рамках заявки (студент ↔ преподаватель)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Архив ВКР с загрузкой и presigned-</a:t>
            </a:r>
            <a:r>
              <a:rPr lang="en-US" sz="1600" dirty="0" err="1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ссылками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Уведомления: in-app + email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Аналитика и экспорт (Excel / CSV)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531432"/>
            <a:ext cx="4114800" cy="703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Нефункциональные требования</a:t>
            </a:r>
            <a:r>
              <a:rPr lang="ru-RU" sz="2400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: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4114800" cy="387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Безопасность: JWT + refresh-ротация, bcrypt, rate-limit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Масштабируемость: stateless-серверная часть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Сопровождаемость: Clean Architecture, тесты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Переносимость: Docker-контейнеры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Доступность: адаптивный UI, актуальные браузеры</a:t>
            </a:r>
            <a:r>
              <a:rPr lang="ru-RU" sz="1600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A2958521-4053-44EC-A0C2-12E681678264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7. Технологический стек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32008"/>
            <a:ext cx="1920240" cy="584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Серверная часть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134558"/>
            <a:ext cx="192024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9068"/>
            <a:ext cx="1920240" cy="19071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ASP.NET Core 10</a:t>
            </a:r>
            <a:endParaRPr lang="en-US" dirty="0"/>
          </a:p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C# 13 / .NET 10</a:t>
            </a:r>
            <a:endParaRPr lang="en-US" dirty="0"/>
          </a:p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EF Core 10</a:t>
            </a:r>
            <a:endParaRPr lang="en-US" dirty="0"/>
          </a:p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JWT + Refresh</a:t>
            </a:r>
            <a:endParaRPr lang="en-US" dirty="0"/>
          </a:p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MailKit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14600" y="532008"/>
            <a:ext cx="1920240" cy="584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Клиентская часть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14600" y="1134558"/>
            <a:ext cx="192024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219068"/>
            <a:ext cx="1920240" cy="19071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Angular 20</a:t>
            </a:r>
            <a:endParaRPr lang="en-US" dirty="0"/>
          </a:p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TypeScript</a:t>
            </a:r>
            <a:endParaRPr lang="en-US" dirty="0"/>
          </a:p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PrimeNG 20</a:t>
            </a:r>
            <a:endParaRPr lang="en-US" dirty="0"/>
          </a:p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Angular Signals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0" y="532008"/>
            <a:ext cx="1920240" cy="584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Хранение данных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0" y="1134558"/>
            <a:ext cx="192024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219068"/>
            <a:ext cx="1920240" cy="19071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PostgreSQL 16</a:t>
            </a:r>
            <a:endParaRPr lang="en-US" dirty="0"/>
          </a:p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Redis 7</a:t>
            </a:r>
            <a:endParaRPr lang="en-US" dirty="0"/>
          </a:p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MinIO / AWS S3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29400" y="532008"/>
            <a:ext cx="1920240" cy="584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Инфраструктура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629400" y="1134558"/>
            <a:ext cx="192024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219068"/>
            <a:ext cx="1920240" cy="19071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Docker</a:t>
            </a:r>
          </a:p>
          <a:p>
            <a:pPr marL="85725" indent="-8572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Times New Roman" pitchFamily="34" charset="-122"/>
                <a:cs typeface="Times New Roman" pitchFamily="34" charset="-120"/>
              </a:rPr>
              <a:t>GitHub</a:t>
            </a:r>
            <a:endParaRPr lang="en-US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3E70E886-0240-4FC4-A35C-F6A6FE49CB28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7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  <p:pic>
        <p:nvPicPr>
          <p:cNvPr id="1026" name="Picture 2" descr="Файл:Csharp Logo.png — Википедия">
            <a:extLst>
              <a:ext uri="{FF2B5EF4-FFF2-40B4-BE49-F238E27FC236}">
                <a16:creationId xmlns:a16="http://schemas.microsoft.com/office/drawing/2014/main" id="{26595EA2-BFF9-4A9E-9498-4EA91CEE0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49" t="18468" r="21214" b="18686"/>
          <a:stretch/>
        </p:blipFill>
        <p:spPr bwMode="auto">
          <a:xfrm>
            <a:off x="611944" y="3126194"/>
            <a:ext cx="1610751" cy="1765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ngular icon vector logo in (eps, svg) for free - Brandlogos.net">
            <a:extLst>
              <a:ext uri="{FF2B5EF4-FFF2-40B4-BE49-F238E27FC236}">
                <a16:creationId xmlns:a16="http://schemas.microsoft.com/office/drawing/2014/main" id="{ED0D1CB4-89F6-4C8F-83D2-676FEC924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4503" y="3091818"/>
            <a:ext cx="1700434" cy="1799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Файл:Postgresql elephant.svg — Википедия">
            <a:extLst>
              <a:ext uri="{FF2B5EF4-FFF2-40B4-BE49-F238E27FC236}">
                <a16:creationId xmlns:a16="http://schemas.microsoft.com/office/drawing/2014/main" id="{39FC4840-CB9F-4C37-A3B2-AA5EEBC68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8931" y="3160077"/>
            <a:ext cx="1646377" cy="169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Docker Logo and symbol, meaning, history, PNG, brand">
            <a:extLst>
              <a:ext uri="{FF2B5EF4-FFF2-40B4-BE49-F238E27FC236}">
                <a16:creationId xmlns:a16="http://schemas.microsoft.com/office/drawing/2014/main" id="{B139148F-B633-495F-B17B-8BADC9F4C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57" r="16561" b="31832"/>
          <a:stretch/>
        </p:blipFill>
        <p:spPr bwMode="auto">
          <a:xfrm>
            <a:off x="6758145" y="3354485"/>
            <a:ext cx="1953855" cy="1274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8. Архитектура системы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8C4839AD-EC31-408E-A6DA-27B8A88F6D27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8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76A3C2A-C16E-4090-BD16-E2FF87C77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538" y="581290"/>
            <a:ext cx="6216923" cy="43064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9. Диаграмма вариантов использования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52B1A3B-E483-4B5B-A313-506294D37B05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9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22DEEC9-923C-4CA2-B6ED-3955BEBD4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81" y="632150"/>
            <a:ext cx="8779237" cy="440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12. Схема базы данных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D1E9CBE-7FFF-4B62-A01A-1478B0F8B87C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2D7FACC-07DF-4F39-BB6A-E29C3EA1C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270" y="531432"/>
            <a:ext cx="6309459" cy="44395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50968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10. Жизненный цикл: запрос на научное руководство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Image 0" descr="C:\Users\Aydar.Ilin\Documents\Cods\AcademicTopicSelectionService\docs\lc_supervisor_request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66" y="979864"/>
            <a:ext cx="8003468" cy="3472472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6A584A17-8269-4AE9-9101-005865E1D42F}"/>
              </a:ext>
            </a:extLst>
          </p:cNvPr>
          <p:cNvSpPr/>
          <p:nvPr/>
        </p:nvSpPr>
        <p:spPr>
          <a:xfrm>
            <a:off x="8173329" y="540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11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11. Жизненный цикл: заявка на тему ВКР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60" y="758561"/>
            <a:ext cx="7125280" cy="3937654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04F5B82B-72A1-4603-AB0E-3B442BBF3EF9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1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2 / 20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13. Интерфейс системы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80B4974-3591-475E-BA62-24FB653B2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176944" y="540000"/>
            <a:ext cx="4784742" cy="4320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ECAE324B-5BFC-4B03-9158-D1F506EDA5B7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13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13. Интерфейс системы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13F5FE-4C74-426B-A7F8-B784D7BBEF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80"/>
          <a:stretch/>
        </p:blipFill>
        <p:spPr>
          <a:xfrm>
            <a:off x="180000" y="540000"/>
            <a:ext cx="8762777" cy="43200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F635A379-6FDA-466E-8C2B-FB8A2605861B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14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73786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6B39A5-E1A6-42A0-8EAE-1DDFD328AF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56"/>
          <a:stretch/>
        </p:blipFill>
        <p:spPr>
          <a:xfrm>
            <a:off x="180000" y="540000"/>
            <a:ext cx="8798868" cy="4320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04A5FA85-F1D1-4AC2-A3CD-4717ECB0FB3D}"/>
              </a:ext>
            </a:extLst>
          </p:cNvPr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13. Интерфейс системы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1296587-7BD6-4336-BFFD-9931797F89C9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15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54645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47DEBF-441B-479A-8A6A-149CD7A083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27"/>
          <a:stretch/>
        </p:blipFill>
        <p:spPr>
          <a:xfrm>
            <a:off x="180000" y="540000"/>
            <a:ext cx="8786442" cy="4320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3644CD39-AFF9-43CC-8EF6-F658D32EAC1A}"/>
              </a:ext>
            </a:extLst>
          </p:cNvPr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13. Интерфейс системы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4F90D77-0DB9-421F-87EA-1EF46248E6BF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16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55162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21F25A-32A1-410D-8393-38CE50E4E04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69"/>
          <a:stretch/>
        </p:blipFill>
        <p:spPr>
          <a:xfrm>
            <a:off x="180000" y="540000"/>
            <a:ext cx="8761691" cy="4320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48E5EE78-267F-44FB-AB58-997AF1AE1290}"/>
              </a:ext>
            </a:extLst>
          </p:cNvPr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13. Интерфейс системы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36D6E1B-734F-4ADC-A9EF-4AEF75A98E92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17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8388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F2380F-0F06-445C-A028-98E041CA56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527"/>
          <a:stretch/>
        </p:blipFill>
        <p:spPr>
          <a:xfrm>
            <a:off x="180000" y="540000"/>
            <a:ext cx="8786442" cy="432000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E7DA4D2B-5797-4BE5-8642-54E484502603}"/>
              </a:ext>
            </a:extLst>
          </p:cNvPr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13. Интерфейс системы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97CEC75B-EFE4-44D3-A9AC-23A1447FE557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97921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14. Тестирование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2000" y="564120"/>
            <a:ext cx="841248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Состав тестов</a:t>
            </a:r>
            <a:endParaRPr lang="en-US" sz="2400" dirty="0">
              <a:latin typeface="Calibri (Основной текст)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028808"/>
            <a:ext cx="8412480" cy="218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Unit-тесты бизнес-логики: переходы ЖЦ запроса на руководство и заявки на тему.</a:t>
            </a:r>
            <a:endParaRPr lang="en-US" sz="2000" dirty="0">
              <a:latin typeface="Calibri (Основной текст)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Unit-тесты разграничения прав: запрещённые действия по ролям.</a:t>
            </a:r>
            <a:endParaRPr lang="en-US" sz="2000" dirty="0">
              <a:latin typeface="Calibri (Основной текст)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Integration-тесты: полный сценарий от регистрации заявки до утверждения.</a:t>
            </a:r>
            <a:endParaRPr lang="en-US" sz="2000" dirty="0">
              <a:latin typeface="Calibri (Основной текст)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Тесты параллельных операций: конкурентные заявки на одну тему.</a:t>
            </a:r>
            <a:endParaRPr lang="en-US" sz="2000" dirty="0">
              <a:latin typeface="Calibri (Основной текст)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A0DBF7F-D1E7-4F06-B45A-89ACC86E8F72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19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0000" y="36000"/>
            <a:ext cx="8460000" cy="39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cs typeface="Times New Roman" pitchFamily="34" charset="-120"/>
              </a:rPr>
              <a:t>15. Заключение</a:t>
            </a:r>
          </a:p>
        </p:txBody>
      </p:sp>
      <p:sp>
        <p:nvSpPr>
          <p:cNvPr id="3" name="Shape 1"/>
          <p:cNvSpPr/>
          <p:nvPr/>
        </p:nvSpPr>
        <p:spPr>
          <a:xfrm>
            <a:off x="432000" y="468000"/>
            <a:ext cx="82800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0000" y="563472"/>
            <a:ext cx="8412480" cy="368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В результате выполнения работы:</a:t>
            </a:r>
            <a:endParaRPr lang="en-US" sz="2400" dirty="0">
              <a:latin typeface="Calibri (Основной текст)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32040"/>
            <a:ext cx="8412480" cy="2634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Разработан прототип системы AcademicTopicSelectionService, автоматизирующей выбор научного руководителя и темы ВКР.</a:t>
            </a:r>
            <a:endParaRPr lang="en-US" dirty="0">
              <a:latin typeface="Calibri (Основной текст)"/>
            </a:endParaRPr>
          </a:p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Реализован двухэтапный процесс согласования с журналом статусов.</a:t>
            </a:r>
            <a:endParaRPr lang="en-US" dirty="0">
              <a:latin typeface="Calibri (Основной текст)"/>
            </a:endParaRPr>
          </a:p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Обеспечена ролевая модель доступа для 4 типов пользователей.</a:t>
            </a:r>
            <a:endParaRPr lang="en-US" dirty="0">
              <a:latin typeface="Calibri (Основной текст)"/>
            </a:endParaRPr>
          </a:p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Реализован чат в рамках заявки, подсистема уведомлений и архив защищённых работ.</a:t>
            </a:r>
            <a:endParaRPr lang="en-US" dirty="0">
              <a:latin typeface="Calibri (Основной текст)"/>
            </a:endParaRPr>
          </a:p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Система развёртывается как набор Docker-</a:t>
            </a:r>
            <a:r>
              <a:rPr lang="en-US" dirty="0" err="1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контейнеров</a:t>
            </a:r>
            <a:r>
              <a:rPr lang="en-US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.</a:t>
            </a:r>
            <a:endParaRPr lang="en-US" dirty="0">
              <a:latin typeface="Calibri (Основной текст)"/>
            </a:endParaRPr>
          </a:p>
          <a:p>
            <a:pPr marL="179388" indent="-17938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Бизнес-логика покрыта автоматизированными тестами.</a:t>
            </a:r>
            <a:endParaRPr lang="en-US" dirty="0">
              <a:latin typeface="Calibri (Основной текст)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0000" y="3566160"/>
            <a:ext cx="8412480" cy="136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2000" b="1" dirty="0">
                <a:solidFill>
                  <a:srgbClr val="000000"/>
                </a:solidFill>
                <a:latin typeface="Calibri (Основной текст)"/>
                <a:cs typeface="Times New Roman" pitchFamily="34" charset="-120"/>
              </a:rPr>
              <a:t>Научная новизна </a:t>
            </a:r>
            <a:r>
              <a:rPr lang="en-US" sz="2000" dirty="0">
                <a:solidFill>
                  <a:srgbClr val="000000"/>
                </a:solidFill>
                <a:latin typeface="Calibri (Основной текст)"/>
                <a:ea typeface="Times New Roman" pitchFamily="34" charset="-122"/>
                <a:cs typeface="Times New Roman" pitchFamily="34" charset="-120"/>
              </a:rPr>
              <a:t>— специализированное решение, объединяющее каталог тем и преподавателей, регламентированный ЖЦ заявки, чат и архив ВКР в одном веб-сервисе</a:t>
            </a:r>
            <a:endParaRPr lang="en-US" sz="2000" dirty="0">
              <a:latin typeface="Calibri (Основной текст)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86832835-0EC9-4467-99CA-0FB3E95B42EC}"/>
              </a:ext>
            </a:extLst>
          </p:cNvPr>
          <p:cNvSpPr/>
          <p:nvPr/>
        </p:nvSpPr>
        <p:spPr>
          <a:xfrm>
            <a:off x="8173329" y="108000"/>
            <a:ext cx="790671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ru-RU" sz="1600" dirty="0">
                <a:ea typeface="Times New Roman" pitchFamily="34" charset="-122"/>
                <a:cs typeface="Times New Roman" pitchFamily="34" charset="-120"/>
              </a:rPr>
              <a:t>0</a:t>
            </a:r>
            <a:r>
              <a:rPr lang="en-US" sz="1600" dirty="0">
                <a:ea typeface="Times New Roman" pitchFamily="34" charset="-122"/>
                <a:cs typeface="Times New Roman" pitchFamily="34" charset="-120"/>
              </a:rPr>
              <a:t> / 20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839</Words>
  <Application>Microsoft Office PowerPoint</Application>
  <PresentationFormat>Экран (16:9)</PresentationFormat>
  <Paragraphs>186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(Основной текст)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прототипа сервиса по выбору научного руководителя для ВКР</dc:title>
  <dc:subject>PptxGenJS Presentation</dc:subject>
  <dc:creator>Ильин А.А.</dc:creator>
  <cp:lastModifiedBy>Ильин Айдар Альбертович</cp:lastModifiedBy>
  <cp:revision>51</cp:revision>
  <dcterms:created xsi:type="dcterms:W3CDTF">2026-05-26T11:41:09Z</dcterms:created>
  <dcterms:modified xsi:type="dcterms:W3CDTF">2026-06-08T15:56:29Z</dcterms:modified>
</cp:coreProperties>
</file>