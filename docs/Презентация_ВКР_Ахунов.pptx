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731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0F0"/>
                </a:solidFill>
              </a:rPr>
              <a:t>ФГБОУ ВО «КНИТУ-КАИ»  |  Кафедра прикладной математики и информатики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Автоматизированная информационная система
выбора тем выпускных квалификационных работ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AABBDD"/>
                </a:solidFill>
              </a:rPr>
              <a:t>Направление 09.03.04 «Программная инженерия»  |  Квалификация: бакалавр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10332720" cy="11887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794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Выполнил: студент гр. 4480  Ахунов А. 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Руководитель: Зайдуллин С. С.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7A99"/>
                </a:solidFill>
              </a:rPr>
              <a:t>Казань,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Постановка задачи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Актуальность · Цели · Задачи ВКР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39496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</a:rPr>
              <a:t>Проблема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📌  Ручной подбор тем ВКР — неэффективен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025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📌  Нет единой точки контроля статуса заявок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04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📌  Согласование через email / мессенджеры — непрозрачно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072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📌  Отсутствие архива защищённых работ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954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4A"/>
                </a:solidFill>
              </a:rPr>
              <a:t>📌  Сложность мониторинга нагрузки преподавателей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5806440" cy="228600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Цель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002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Разработать АИС, автоматизирующую полный
жизненный цикл выбора и утверждения
темы ВКР — от заявки до архивирования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611880"/>
            <a:ext cx="580644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2B4A"/>
                </a:solidFill>
              </a:rPr>
              <a:t>Задачи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069080"/>
            <a:ext cx="5486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1. Анализ предметной области и требований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453128"/>
            <a:ext cx="5486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2. Проектирование архитектуры и БД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837176"/>
            <a:ext cx="5486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3. Реализация серверной части (ASP.NET Core)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221224"/>
            <a:ext cx="5486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4. Реализация клиентской части (Angular)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605272"/>
            <a:ext cx="5486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5. Тестирование и документирование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Предметная область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Категории пользователей и решаемые задачи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2834640" cy="50292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15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👨‍🎓 Студент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600200"/>
            <a:ext cx="2834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Просмотр тем ВКР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585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Запрос научного руководителя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254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Подача заявки на тему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39242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Переписка в чате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9593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Отмена заявки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097280"/>
            <a:ext cx="2834640" cy="502920"/>
          </a:xfrm>
          <a:prstGeom prst="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115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👨‍🏫 Преподаватель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600200"/>
            <a:ext cx="2834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16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Создание/редактирование тем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2585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Рассмотрение заявок студентов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8254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Утверждение / отклонение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39242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Переписка в чате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9593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Мониторинг нагрузки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097280"/>
            <a:ext cx="283464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115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🏛 Зав. кафедрой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600200"/>
            <a:ext cx="2834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Финальное утверждение заявок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2585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Контроль нагрузки преподавателей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8254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Просмотр всех заявок кафедры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39242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Управление архивом ВКР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1097280"/>
            <a:ext cx="2834640" cy="502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111556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⚙️ Администратор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600200"/>
            <a:ext cx="2834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Управление пользователями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2585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Архив защищённых работ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2825496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Аналитика и отчёты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392424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Экспорт в Excel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Бизнес-процесс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Жизненный цикл заявки на тему ВКР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234440"/>
            <a:ext cx="960120" cy="347472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28016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Студент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2468880"/>
            <a:ext cx="960120" cy="347472"/>
          </a:xfrm>
          <a:prstGeom prst="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51460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Препод.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3703320"/>
            <a:ext cx="9601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7490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Зав. каф.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1508760"/>
            <a:ext cx="1554480" cy="566928"/>
          </a:xfrm>
          <a:prstGeom prst="round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Просматривает
темы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508760"/>
            <a:ext cx="1554480" cy="566928"/>
          </a:xfrm>
          <a:prstGeom prst="round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Отправляет
запрос руков-лю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743200"/>
            <a:ext cx="1554480" cy="566928"/>
          </a:xfrm>
          <a:prstGeom prst="round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Принимает /
отклоняет запрос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508760"/>
            <a:ext cx="1554480" cy="566928"/>
          </a:xfrm>
          <a:prstGeom prst="round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Подаёт
заявку на тему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43200"/>
            <a:ext cx="1554480" cy="566928"/>
          </a:xfrm>
          <a:prstGeom prst="round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Рассматривает
заявку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977639"/>
            <a:ext cx="1554480" cy="566928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Финальное
утверждение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508760"/>
            <a:ext cx="1554480" cy="566928"/>
          </a:xfrm>
          <a:prstGeom prst="roundRect">
            <a:avLst/>
          </a:prstGeom>
          <a:solidFill>
            <a:srgbClr val="22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Заявка
утверждена 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1792224.0"/>
            <a:ext cx="182880" cy="0.0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03320.0" y="2075688"/>
            <a:ext cx="1737360.0" cy="667512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217920" y="1792224.0"/>
            <a:ext cx="182880" cy="1234440.0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55280" y="1792224.0"/>
            <a:ext cx="182880" cy="1234440.0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15400.0" y="3310128"/>
            <a:ext cx="0.0" cy="667511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692640" y="1792224.0"/>
            <a:ext cx="182880" cy="2468879.0"/>
          </a:xfrm>
          <a:prstGeom prst="line">
            <a:avLst/>
          </a:prstGeom>
          <a:ln w="25400">
            <a:solidFill>
              <a:srgbClr val="1A2B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432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Статусы заявки: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5321808"/>
            <a:ext cx="182880" cy="201168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OnEditing / Pending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5321808"/>
            <a:ext cx="182880" cy="201168"/>
          </a:xfrm>
          <a:prstGeom prst="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ApprovedBySupervisor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5321808"/>
            <a:ext cx="182880" cy="2011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PendingDepartmentHead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5321808"/>
            <a:ext cx="182880" cy="201168"/>
          </a:xfrm>
          <a:prstGeom prst="rect">
            <a:avLst/>
          </a:prstGeom>
          <a:solidFill>
            <a:srgbClr val="22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9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ApprovedByDepartmentHead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59" y="5321808"/>
            <a:ext cx="18288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52759" y="5303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Rejected*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Архитектура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Clean Architecture · Backend · Frontend ·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029200" cy="6400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API Layer  (Controllers, Middleware, Swagger)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5029200" cy="64008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Application Layer  (Services, DTOs, Abstractions)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5029200" cy="640080"/>
          </a:xfrm>
          <a:prstGeom prst="rect">
            <a:avLst/>
          </a:prstGeom>
          <a:solidFill>
            <a:srgbClr val="16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Infrastructure Layer  (EF Core, Redis, S3/MinIO)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5029200" cy="640080"/>
          </a:xfrm>
          <a:prstGeom prst="rect">
            <a:avLst/>
          </a:prstGeom>
          <a:solidFill>
            <a:srgbClr val="074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20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Domain Layer  (Entities, Business Rules)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960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Backend  (ASP.NET Core 10)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188720"/>
            <a:ext cx="3291840" cy="283464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9601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Frontend  (Angular 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2801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Standalone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171907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PrimeNG 20.4 (UI)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15798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RxJS Observables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59689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JWT Interceptor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03580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Role Guards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1188720"/>
            <a:ext cx="2651760" cy="2834640"/>
          </a:xfrm>
          <a:prstGeom prst="rect">
            <a:avLst/>
          </a:prstGeom>
          <a:solidFill>
            <a:srgbClr val="1A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960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Инфраструктура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280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7190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Redis (токены)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1579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S3 / MinIO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59689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Docker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0358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nginx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21808" y="2423160"/>
            <a:ext cx="347472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79408" y="2423160"/>
            <a:ext cx="256032" cy="0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12080" y="2084831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2B4A"/>
                </a:solidFill>
              </a:rPr>
              <a:t>REST API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4297680"/>
          <a:ext cx="11612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6440"/>
                <a:gridCol w="580644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Слой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Технологии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API / 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ASP.NET Core 10, Swagger/OpenAPI, Rate Limiting, JWT 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Application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MediatR (CQRS), FluentValidation, DTO mappings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EF Core 10, Npgsql, StackExchange.Redis, AWSSDK.S3, ClosedXML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Angular 20, TypeScript 5.9, PrimeNG 20.4, RxJS 7.8, SCSS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DevOps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Docker Compose, PostgreSQL 16, Redis 7, MinIO, nginx 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Схема базы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PostgreSQL · 20+ таблиц · Основные сущности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88720"/>
            <a:ext cx="274320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252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536192"/>
            <a:ext cx="27432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572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1819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06654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password_hash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23134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role_id (FK)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291840"/>
            <a:ext cx="2743200" cy="347472"/>
          </a:xfrm>
          <a:prstGeom prst="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332841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Teachers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639312"/>
            <a:ext cx="27432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16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367588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392277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user_id (FK)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416966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max_students_limit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441655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degree_id, title_id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5029200"/>
            <a:ext cx="2743200" cy="347472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50657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5376672"/>
            <a:ext cx="2743200" cy="832104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54132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" y="566013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user_id (FK)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590702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study_group_id (FK)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1188720"/>
            <a:ext cx="2743200" cy="34747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12252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Topics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1536192"/>
            <a:ext cx="27432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1572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1819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title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206654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description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23134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status_id (FK)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256032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teacher_id (FK)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200400"/>
            <a:ext cx="27432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60" y="32369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SupervisorRequests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547872"/>
            <a:ext cx="27432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35844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383133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student_id (FK)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07822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teacher_id (FK)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3251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45720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created_at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1188720"/>
            <a:ext cx="2743200" cy="347472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12252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StudentApplications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1536192"/>
            <a:ext cx="27432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1572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1819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student_id (FK)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206654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topic_id (FK)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23134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supervisor_req_id (FK)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256032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status_id (FK)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200400"/>
            <a:ext cx="2743200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2369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ApplicationActions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547872"/>
            <a:ext cx="2743200" cy="1572768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35844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383133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application_id (FK)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407822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action_status_id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3251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actor_id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45720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created_at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46520" y="481888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comment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4937760"/>
            <a:ext cx="2743200" cy="347472"/>
          </a:xfrm>
          <a:prstGeom prst="rect">
            <a:avLst/>
          </a:prstGeom>
          <a:solidFill>
            <a:srgbClr val="16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97433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ChatMessages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00800" y="5285232"/>
            <a:ext cx="27432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16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532180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556869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application_id (FK)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6520" y="581558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sender_id (FK)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606247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text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46520" y="630936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created_at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01200" y="1188720"/>
            <a:ext cx="2743200" cy="347472"/>
          </a:xfrm>
          <a:prstGeom prst="rect">
            <a:avLst/>
          </a:prstGeom>
          <a:solidFill>
            <a:srgbClr val="229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646920" y="12252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GraduateWorks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01200" y="1536192"/>
            <a:ext cx="27432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229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46920" y="1572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181965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application_id (FK)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46920" y="206654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grade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6920" y="231343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file_key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46920" y="256032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confirmed_at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601200" y="3200400"/>
            <a:ext cx="274320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46920" y="32369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01200" y="3547872"/>
            <a:ext cx="2743200" cy="1572768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46920" y="35844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id (PK)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46920" y="383133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user_id (FK)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4078224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type_id (FK)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46920" y="4325112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message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46920" y="4572000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is_read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46920" y="481888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B4A"/>
                </a:solidFill>
              </a:rPr>
              <a:t>  related_entity_id</a:t>
            </a:r>
          </a:p>
        </p:txBody>
      </p:sp>
      <p:cxnSp>
        <p:nvCxnSpPr>
          <p:cNvPr id="84" name="Connector 83"/>
          <p:cNvCxnSpPr/>
          <p:nvPr/>
        </p:nvCxnSpPr>
        <p:spPr>
          <a:xfrm flipV="1">
            <a:off x="1554480.0" y="2724912"/>
            <a:ext cx="0.0" cy="566928"/>
          </a:xfrm>
          <a:prstGeom prst="line">
            <a:avLst/>
          </a:prstGeom>
          <a:ln w="19050">
            <a:solidFill>
              <a:srgbClr val="6B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72400.0" y="2862072"/>
            <a:ext cx="0.0" cy="338328"/>
          </a:xfrm>
          <a:prstGeom prst="line">
            <a:avLst/>
          </a:prstGeom>
          <a:ln w="19050">
            <a:solidFill>
              <a:srgbClr val="6B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772400.0" y="4937760"/>
            <a:ext cx="0.0" cy="182880"/>
          </a:xfrm>
          <a:prstGeom prst="line">
            <a:avLst/>
          </a:prstGeom>
          <a:ln w="19050">
            <a:solidFill>
              <a:srgbClr val="6B7A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Структура программного продукта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Backend — ASP.NET Core 10 · Clean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88720"/>
            <a:ext cx="283464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16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API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600200"/>
            <a:ext cx="283464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6420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AuthController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1226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ApplicationsController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032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TopicsController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0837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SupervisorRequestsController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564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GraduateWorksController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90448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NotificationsController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35254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10× DictionaryControllers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80060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Swagger / OpenAPI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524865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69671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JWT Middleware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1188720"/>
            <a:ext cx="2834640" cy="41148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1216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1600200"/>
            <a:ext cx="283464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166420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IStudentApplicationsService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11226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StudentApplicationsService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56032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ITopicsService · TopicsService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00837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ISupervisorRequestsService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4564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IChatService · ChatService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90448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INotificationsService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35254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IGraduateWorksService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80060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IUsersRepository (abstraction)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524865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AuthContracts (JWT helpers)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6120" y="569671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10× IDictionaryService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188720"/>
            <a:ext cx="2834640" cy="411480"/>
          </a:xfrm>
          <a:prstGeom prst="rect">
            <a:avLst/>
          </a:prstGeom>
          <a:solidFill>
            <a:srgbClr val="16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1216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Infrastructure Layer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600200"/>
            <a:ext cx="283464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166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66420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AppDbContext (EF Core 10)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11226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ApplicationsRepository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56032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TopicsRepository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00837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UsersRepository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4564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GraduateWorksRepository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90448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JwtProvider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35254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RedisRefreshTokenRepository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80060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BcryptPasswordHasher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24865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S3FileService (MinIO)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69671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10× DictionaryRepository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1188720"/>
            <a:ext cx="2834640" cy="411480"/>
          </a:xfrm>
          <a:prstGeom prst="rect">
            <a:avLst/>
          </a:prstGeom>
          <a:solidFill>
            <a:srgbClr val="074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1216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Domain Layer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1600200"/>
            <a:ext cx="2834640" cy="4937760"/>
          </a:xfrm>
          <a:prstGeom prst="rect">
            <a:avLst/>
          </a:prstGeom>
          <a:solidFill>
            <a:srgbClr val="FFFFFF"/>
          </a:solidFill>
          <a:ln>
            <a:solidFill>
              <a:srgbClr val="074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166420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User · UserRole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211226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Teacher · Student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256032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Topic · TopicStatus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300837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SupervisorRequest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345643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StudentApplication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3904488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ApplicationStatus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4352544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ApplicationAction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9720" y="4800600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ChatMessage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5248656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Notification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5696712"/>
            <a:ext cx="2651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▸  GraduateWork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Структура программного продукта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Frontend — Angular 20 · Standalone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303520" cy="365760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1704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Модули функциональности (Features)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600200"/>
            <a:ext cx="2011680" cy="402336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6367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auth/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600200"/>
            <a:ext cx="32918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16642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Вход в систему, JWT refresh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093976"/>
            <a:ext cx="2011680" cy="402336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1305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topics/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093976"/>
            <a:ext cx="32918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1579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Список тем, создание, редактирование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587752"/>
            <a:ext cx="2011680" cy="402336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26243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supervisor-requests/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587752"/>
            <a:ext cx="32918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2651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Запросы научного руководителя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081528"/>
            <a:ext cx="2011680" cy="402336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311810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applications/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081528"/>
            <a:ext cx="32918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1455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Список и детали заявок + чат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3575304"/>
            <a:ext cx="2011680" cy="402336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36118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notifications/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3575304"/>
            <a:ext cx="32918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639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Входящие уведомления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069080"/>
            <a:ext cx="2011680" cy="402336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41056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graduate-works/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4069080"/>
            <a:ext cx="32918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41330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Архив ВКР, скачивание файлов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4562856"/>
            <a:ext cx="2011680" cy="402336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459943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teachers/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4562856"/>
            <a:ext cx="32918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0" y="462686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Список и профили преподавателей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5056632"/>
            <a:ext cx="2011680" cy="402336"/>
          </a:xfrm>
          <a:prstGeom prst="rect">
            <a:avLst/>
          </a:prstGeom>
          <a:solidFill>
            <a:srgbClr val="DD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50932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admin/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5056632"/>
            <a:ext cx="3291840" cy="402336"/>
          </a:xfrm>
          <a:prstGeom prst="rect">
            <a:avLst/>
          </a:prstGeom>
          <a:solidFill>
            <a:srgbClr val="FFFFFF"/>
          </a:solidFill>
          <a:ln>
            <a:solidFill>
              <a:srgbClr val="DD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0" y="5120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Пользователи, аналитика, экспорт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1143000"/>
            <a:ext cx="59436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97880" y="11704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Core Services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1600200"/>
            <a:ext cx="21945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97880" y="163677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AuthService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1600200"/>
            <a:ext cx="3749039" cy="402336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166420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Хранение токенов, авторизация, роли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2160" y="2093976"/>
            <a:ext cx="21945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80" y="21305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AuthInterceptor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2093976"/>
            <a:ext cx="3749039" cy="402336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38160" y="215798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Автодобавление Bearer-токена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52160" y="2587752"/>
            <a:ext cx="21945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97880" y="26243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ErrorInterceptor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2587752"/>
            <a:ext cx="3749039" cy="402336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2651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Глобальная обработка ошибок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60" y="3081528"/>
            <a:ext cx="21945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97880" y="31181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AuthGuard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3081528"/>
            <a:ext cx="3749039" cy="402336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314553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Защита маршрутов (canActivate)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0" y="3575304"/>
            <a:ext cx="21945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97880" y="36118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RoleGuard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3575304"/>
            <a:ext cx="3749039" cy="402336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38160" y="36393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Ограничение по роли пользователя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52160" y="4069080"/>
            <a:ext cx="21945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97880" y="410565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DetailPollingService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46720" y="4069080"/>
            <a:ext cx="3749039" cy="402336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38160" y="41330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Polling деталей заявки (~5 сек)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4562856"/>
            <a:ext cx="21945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97880" y="45994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NotificationService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4562856"/>
            <a:ext cx="3749039" cy="402336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4626864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Toast-уведомления (PrimeNG)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52160" y="5056632"/>
            <a:ext cx="2194560" cy="402336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97880" y="50932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TypeScript Interfaces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5056632"/>
            <a:ext cx="3749039" cy="402336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138160" y="5120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Модели: Application, Topic, User…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Ключевые технические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Безопасность · Производительность · Надёжность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65760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978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🔐  JWT + Redis
(Refresh Token Rotation)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36576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76479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Stateless аутентификация.
Refresh-токены хранятся в Redis.
Одноразовое использование,
автоматическая инвалидация
при logout.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143000"/>
            <a:ext cx="3657600" cy="54864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1978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⚡  IMemoryCache
(Кэш статусов)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91640"/>
            <a:ext cx="36576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176479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Справочники (статусы заявок,
тем) кэшируются в памяти.
Исключает лишние запросы к БД.
Инвалидация при изменении.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143000"/>
            <a:ext cx="3657600" cy="548640"/>
          </a:xfrm>
          <a:prstGeom prst="rect">
            <a:avLst/>
          </a:prstGeom>
          <a:solidFill>
            <a:srgbClr val="16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1978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📁  S3 / MinIO
(Presigned URLs)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691640"/>
            <a:ext cx="36576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166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7" y="176479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Файлы ВКР хранятся в S3.
URL генерируется на лету.
Файл никогда не проходит
через сервер — прямая загрузка.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365760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124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🔔  Background Queue
(Email уведомления)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06240"/>
            <a:ext cx="36576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27939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Уведомления ставятся в очередь.
EmailSender выполняется
в фоновом потоке (IHostedService).
Graceful shutdown.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657600"/>
            <a:ext cx="3657600" cy="548640"/>
          </a:xfrm>
          <a:prstGeom prst="rect">
            <a:avLst/>
          </a:prstGeom>
          <a:solidFill>
            <a:srgbClr val="074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37124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🧪  Testcontainers
(Интеграционные тесты)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206240"/>
            <a:ext cx="36576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074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4528" y="427939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Реальный PostgreSQL + Redis
поднимаются в Docker-контейнерах.
Тесты не зависят от окружения.
Полная изоляция.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3657600"/>
            <a:ext cx="3657600" cy="54864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37124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 Polling + Chat
(Реальный времени)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4206240"/>
            <a:ext cx="36576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7" y="4279392"/>
            <a:ext cx="34381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Клиент опрашивает API каждые
~5 секунд (DetailPollingService).
Простая реализация без WebSocket.
Чат доступен всем участникам.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REST API (v1)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Основные группы эндпоинтов · OpenAPI / Swagger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Группа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Методы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Описание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Роли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POST /auth/login|refresh|logout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POST×3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Аутентификация, ротация токенов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GET|POST /topics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GET, POST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Список тем; создание темы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All / Teacher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GET|POST /supervisor-requests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GET,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Запросы на руководство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Student, Teacher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PUT .../approve|reject|cancel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PUT×3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Управление запросом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Teacher / Student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GET|POST /applications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GET,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Список и создание заявок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PUT .../approve|reject|dept-head-approve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PUT×4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Согласование заявки по ролям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Teacher / DeptHead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GET|POST /applications/{id}/messages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GET,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Чат внутри заявки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Teacher, 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GET|PUT /notifications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GET, PUT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Уведомления: список и прочтение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All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GET|POST /graduate-works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GET, 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Архив ВКР с пагинацией/фильтрами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All /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POST .../upload-url · confirm-upload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POST×2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Presigned URL для файлов (S3/MinIO)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10× /dictionaries/*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CRUD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Справочники (статусы, степени, …)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Тестирование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Unit Tests · Integration Tests · Testcontainers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</a:rPr>
              <a:t>Пирамида тестирования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572000"/>
            <a:ext cx="4754880" cy="146304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Интеграционные тесты
(Testcontainers: PostgreSQL + Redis)
Applications, Topics, Auth, Dictionaries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34640"/>
            <a:ext cx="3840480" cy="1600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Unit Tests
Services: ApplicationsService,
NotificationsService, TopicsService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554480"/>
            <a:ext cx="2560320" cy="109728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Ручное тестирование
Swagger UI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0" y="1188720"/>
          <a:ext cx="6400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Модуль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Тип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Кол-во тестов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Покрываемые сценарии</a:t>
                      </a:r>
                    </a:p>
                  </a:txBody>
                  <a:tcPr>
                    <a:solidFill>
                      <a:srgbClr val="1A2B4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StudentApplications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15+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CRUD, статусные переходы, авторизация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Topics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10+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Создание, поиск, фильтрация, удаление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8+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Login, refresh, logout, rate limiting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Dictionaries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20+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CRUD для всех справочников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ApplicationsService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12+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Approve/reject логика, уведомления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NotificationsService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6+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2B4A"/>
                          </a:solidFill>
                        </a:rPr>
                        <a:t>Создание и чтение уведомлений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Результаты — функциональность 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Реализованные сценарии · Скриншоты интерфейса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3703320" cy="2606040"/>
          </a:xfrm>
          <a:prstGeom prst="rect">
            <a:avLst/>
          </a:prstGeom>
          <a:solidFill>
            <a:srgbClr val="CCD6EA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0116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200400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B4A"/>
                </a:solidFill>
              </a:rPr>
              <a:t>Список тем ВКР
(фильтр, поиск)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88720"/>
            <a:ext cx="3703320" cy="2606040"/>
          </a:xfrm>
          <a:prstGeom prst="rect">
            <a:avLst/>
          </a:prstGeom>
          <a:solidFill>
            <a:srgbClr val="CCD6EA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20116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200400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B4A"/>
                </a:solidFill>
              </a:rPr>
              <a:t>Детали заявки
(чат, статус, история)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188720"/>
            <a:ext cx="3703320" cy="2606040"/>
          </a:xfrm>
          <a:prstGeom prst="rect">
            <a:avLst/>
          </a:prstGeom>
          <a:solidFill>
            <a:srgbClr val="CCD6EA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01168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200400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B4A"/>
                </a:solidFill>
              </a:rPr>
              <a:t>Архив ВКР
(скачать, оценка)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977639"/>
            <a:ext cx="3703320" cy="2606040"/>
          </a:xfrm>
          <a:prstGeom prst="rect">
            <a:avLst/>
          </a:prstGeom>
          <a:solidFill>
            <a:srgbClr val="CCD6EA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4800599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5989319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B4A"/>
                </a:solidFill>
              </a:rPr>
              <a:t>Уведомления
(входящие)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977639"/>
            <a:ext cx="3703320" cy="2606040"/>
          </a:xfrm>
          <a:prstGeom prst="rect">
            <a:avLst/>
          </a:prstGeom>
          <a:solidFill>
            <a:srgbClr val="CCD6EA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4800599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5989319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B4A"/>
                </a:solidFill>
              </a:rPr>
              <a:t>Запрос научного
руководителя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977639"/>
            <a:ext cx="3703320" cy="2606040"/>
          </a:xfrm>
          <a:prstGeom prst="rect">
            <a:avLst/>
          </a:prstGeom>
          <a:solidFill>
            <a:srgbClr val="CCD6EA"/>
          </a:solidFill>
          <a:ln>
            <a:solidFill>
              <a:srgbClr val="245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800599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A99"/>
                </a:solidFill>
              </a:rPr>
              <a:t>[ Скриншот 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989319"/>
            <a:ext cx="3703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B4A"/>
                </a:solidFill>
              </a:rPr>
              <a:t>Аналитика (Admin)
экспорт 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</a:rPr>
              <a:t>★  Добавьте скриншоты приложения на эти места перед защитой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Характеристики разработки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Объём · Функциональность · Технический уровень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828800" cy="1645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REST API
эндпоинтов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234440"/>
            <a:ext cx="1828800" cy="164592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417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20+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148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таблиц
в БД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234440"/>
            <a:ext cx="1828800" cy="1645920"/>
          </a:xfrm>
          <a:prstGeom prst="rect">
            <a:avLst/>
          </a:prstGeom>
          <a:solidFill>
            <a:srgbClr val="074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417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70+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48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тестов
(unit + intgr.)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1828800" cy="1645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69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роли
пользователей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3154680"/>
            <a:ext cx="1828800" cy="1645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069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статусов
заявки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154680"/>
            <a:ext cx="1828800" cy="1645920"/>
          </a:xfrm>
          <a:prstGeom prst="rect">
            <a:avLst/>
          </a:prstGeom>
          <a:solidFill>
            <a:srgbClr val="16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2-этапное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0690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FF"/>
                </a:solidFill>
              </a:rPr>
              <a:t>согласование
заявок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1188720"/>
            <a:ext cx="5212080" cy="384048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2161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Реализованный функционал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664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Двухэтапное согласование тем ВКР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0299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Система запросов научного руководителя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3957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Чат внутри заявки (студент ↔ руководитель)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761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Email-уведомления (фоновая очередь)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1272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In-app уведомления с навигацией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4930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Архив защищённых работ + S3/MinIO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858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Presigned URLs для безопасной загрузки файлов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224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JWT + Redis Refresh Token Rotation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590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Кэширование справочников (IMemoryCache)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956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Admin: аналитика, экспорт в Excel (ClosedXML)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3218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Rate Limiting на login/refresh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6875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✔  Полное покрытие тестами (unit + integration)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0F0"/>
                </a:solidFill>
              </a:rPr>
              <a:t>Итоги работы · Выводы · Перспективы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498079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61288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Выводы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1. Спроектирована и реализована АИС выбора тем ВКР на основе Clean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02536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2. Разработан двухэтапный workflow согласования с полным аудит-треком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04872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3. Реализован защищённый доступ (JWT, Redis, RBAC) для 4 ролей пользователей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07208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4. Создан архив защищённых работ с файловым хранилищем (S3/MinIO)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09544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5. Реализована система уведомлений (in-app + email) с фоновой очередью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611879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6. Написаны unit- и интеграционные тесты (Testcontainers) — 70+ тест-кейсов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014215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7. Продукт задеплоен в Docker Compose и готов к эксплуатации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572000"/>
            <a:ext cx="7498079" cy="365760"/>
          </a:xfrm>
          <a:prstGeom prst="rect">
            <a:avLst/>
          </a:prstGeom>
          <a:solidFill>
            <a:srgbClr val="245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590288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Перспективы развития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02920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Замена polling на WebSocket (SignalR) для чата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422392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Мобильное приложение (PWA / React Native)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815583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Интеграция с LMS КНИТУ-КАИ (SSO / LDAP)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208775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4A"/>
                </a:solidFill>
              </a:rPr>
              <a:t>▸  Мониторинг (Prometheus + Grafana)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143000"/>
            <a:ext cx="3840480" cy="5303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1704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F0"/>
                </a:solidFill>
              </a:rPr>
              <a:t>Технологический стек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627632"/>
            <a:ext cx="1188720" cy="7315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7373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0F0"/>
                </a:solidFill>
              </a:rPr>
              <a:t>Backend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1627632"/>
            <a:ext cx="2468880" cy="73152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70078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ASP.NET Core 10
EF Core 10 · PostgreSQL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2450592"/>
            <a:ext cx="1188720" cy="7315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560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0F0"/>
                </a:solidFill>
              </a:rPr>
              <a:t>Cache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2450592"/>
            <a:ext cx="2468880" cy="73152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0" y="252374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Redis (refresh tokens)
IMemoryCache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273552"/>
            <a:ext cx="1188720" cy="7315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3832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0F0"/>
                </a:solidFill>
              </a:rPr>
              <a:t>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3273552"/>
            <a:ext cx="2468880" cy="73152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334670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S3 / MinIO
(presigned URLs)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4096512"/>
            <a:ext cx="1188720" cy="7315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42062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0F0"/>
                </a:solidFill>
              </a:rPr>
              <a:t>Frontend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4096512"/>
            <a:ext cx="2468880" cy="73152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416966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Angular 20
PrimeNG 20.4 · RxJS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4919472"/>
            <a:ext cx="1188720" cy="7315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50292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0F0"/>
                </a:solidFill>
              </a:rPr>
              <a:t>Auth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4919472"/>
            <a:ext cx="2468880" cy="73152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99262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JWT Bearer
Bcrypt · RBAC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5742432"/>
            <a:ext cx="1188720" cy="731520"/>
          </a:xfrm>
          <a:prstGeom prst="rect">
            <a:avLst/>
          </a:prstGeom>
          <a:solidFill>
            <a:srgbClr val="0D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58521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0F0"/>
                </a:solidFill>
              </a:rPr>
              <a:t>DevOps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5742432"/>
            <a:ext cx="2468880" cy="73152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581558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Docker Compose
nginx · Testcontainers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