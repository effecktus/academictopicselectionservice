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0879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</a:rPr>
              <a:t>КАЗАНСКИЙ НАЦИОНАЛЬНЫЙ ИССЛЕДОВАТЕЛЬСКИЙ
ТЕХНИЧЕСКИЙ УНИВЕРСИТЕТ
ИМ. А. Н. ТУПОЛЕВА
(КНИТУ-КАИ)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КАФЕДРА ПРИКЛАДНОЙ МАТЕМАТИКИ И ИНФОРМАТИКИ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67712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НАПРАВЛЕНИЕ ПОДГОТОВКИ: 09.03.04  ПРОГРАММНАЯ ИНЖЕНЕРИЯ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51760"/>
            <a:ext cx="10908792" cy="228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Выпускная квалификационная работа на тему: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27248"/>
            <a:ext cx="109087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</a:rPr>
              <a:t>«Автоматизированная информационная система
выбора тем выпускных квалификационных работ»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07408"/>
            <a:ext cx="10908792" cy="228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572000"/>
            <a:ext cx="4965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Выполнил: студент гр. 4411  Ильин А. 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029200"/>
            <a:ext cx="4965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Руководитель: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349240"/>
            <a:ext cx="4965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доцент каф. ПМИ,  Зайдуллин С. С.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C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82512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Казань,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Проблематика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Текущее состояние процесса выбора тем ВКР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3949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612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❌  Ручной подбор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00200"/>
            <a:ext cx="539496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719072"/>
            <a:ext cx="5074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Студент самостоятельно ищет руководителя
и тему — нет единого каталога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097280"/>
            <a:ext cx="53949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16128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❌  Непрозрачность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600200"/>
            <a:ext cx="539496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719072"/>
            <a:ext cx="5074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Согласование через email/мессенджеры —
статус заявки нигде не отображается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520440"/>
            <a:ext cx="53949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5844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❌  Нет контроля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23360"/>
            <a:ext cx="539496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142232"/>
            <a:ext cx="5074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Зав. кафедрой не видит нагрузку
преподавателей в реальном времени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520440"/>
            <a:ext cx="53949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5844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❌  Нет архива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4023360"/>
            <a:ext cx="539496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4142232"/>
            <a:ext cx="5074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Защищённые работы хранятся хаотично,
без единой точки доступа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Цель и задачи ВКР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1521440" cy="109728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0F0"/>
                </a:solidFill>
              </a:rPr>
              <a:t>🎯  Цель: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115568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Разработать АИС, автоматизирующую полный жизненный цикл выбора и утверждения
темы ВКР — от запроса научного руководителя до архивирования защищённой работы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37744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414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1.  Анализ предметной области и сбор требований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944368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0837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2.  Проектирование архитектуры (Clean Architecture) и схемы БД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511296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7530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3.  Реализация серверной части — ASP.NET Core 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4078224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422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4.  Реализация клиентской части — Angular 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645152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091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5.  Интеграция файлового хранилища S3/MinIO и системы уведомлений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21208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2760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6.  Написание unit- и интеграционных тестов (Testcontainers)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5779008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84301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7.  Документирование и подготовка к защите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Пользователи 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4 роли с разграниченным доступом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2788920" cy="64008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1247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👨‍🎓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Студент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737360"/>
            <a:ext cx="278892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84708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Просматривает каталог тем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44144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Запрашивает научного руководителя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03580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Подаёт заявку на тему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63016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Общается в чате заявки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22452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Получает уведомления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36392" y="1097280"/>
            <a:ext cx="2788920" cy="640080"/>
          </a:xfrm>
          <a:prstGeom prst="rect">
            <a:avLst/>
          </a:prstGeom>
          <a:solidFill>
            <a:srgbClr val="16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1247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👨‍🏫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1188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Преподаватель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6392" y="1737360"/>
            <a:ext cx="278892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16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73552" y="184708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Создаёт темы ВКР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244144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Рассматривает заявки студентов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3552" y="303580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Утверждает / отклоняет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3552" y="363016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Общается в чате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3552" y="422452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Видит свою нагрузку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9904" y="1097280"/>
            <a:ext cx="278892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11247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4264" y="1188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Зав. кафедрой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9904" y="1737360"/>
            <a:ext cx="278892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7064" y="184708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Финальное утверждение заявок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7064" y="244144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Контролирует нагрузку преподавателей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7064" y="303580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Видит все заявки кафедры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7064" y="363016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Управляет архивом ВКР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43416" y="1097280"/>
            <a:ext cx="2788920" cy="6400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53144" y="11247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7776" y="1188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Администратор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43416" y="1737360"/>
            <a:ext cx="2788920" cy="4846320"/>
          </a:xfrm>
          <a:prstGeom prst="rect">
            <a:avLst/>
          </a:prstGeom>
          <a:solidFill>
            <a:srgbClr val="FFFFFF"/>
          </a:solidFill>
          <a:ln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0576" y="184708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Управление пользователями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576" y="244144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Загрузка файлов в архив ВКР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0576" y="303580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Аналитика и отчёты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0576" y="3630168"/>
            <a:ext cx="25146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Экспорт данных в 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Процесс согласования заявки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Двухэтапное утверждение · 8 статусов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" y="1280160"/>
            <a:ext cx="1097280" cy="658368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" y="138988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Студент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" y="2423160"/>
            <a:ext cx="1097280" cy="658368"/>
          </a:xfrm>
          <a:prstGeom prst="rect">
            <a:avLst/>
          </a:prstGeom>
          <a:solidFill>
            <a:srgbClr val="16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" y="253288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Преподаватель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" y="3566160"/>
            <a:ext cx="1097280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" y="367588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Зав. кафедрой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1280160"/>
            <a:ext cx="1920240" cy="658368"/>
          </a:xfrm>
          <a:prstGeom prst="round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Запрос
руководителя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280160"/>
            <a:ext cx="1920240" cy="658368"/>
          </a:xfrm>
          <a:prstGeom prst="round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(ожидание
ответа)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280160"/>
            <a:ext cx="1920240" cy="658368"/>
          </a:xfrm>
          <a:prstGeom prst="round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Подача
заявки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280160"/>
            <a:ext cx="1920240" cy="658368"/>
          </a:xfrm>
          <a:prstGeom prst="roundRect">
            <a:avLst/>
          </a:prstGeom>
          <a:solidFill>
            <a:srgbClr val="22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Заявка
утверждена 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2423160"/>
            <a:ext cx="1920240" cy="658368"/>
          </a:xfrm>
          <a:prstGeom prst="roundRect">
            <a:avLst/>
          </a:prstGeom>
          <a:solidFill>
            <a:srgbClr val="16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Принять /
Отклонить запрос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423160"/>
            <a:ext cx="1920240" cy="658368"/>
          </a:xfrm>
          <a:prstGeom prst="roundRect">
            <a:avLst/>
          </a:prstGeom>
          <a:solidFill>
            <a:srgbClr val="16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Утвердить /
Отклонить заявку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3566160"/>
            <a:ext cx="1920240" cy="65836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Финальное
утверждение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00400" y="1609344.0"/>
            <a:ext cx="2011680" cy="1143000.0"/>
          </a:xfrm>
          <a:prstGeom prst="line">
            <a:avLst/>
          </a:prstGeom>
          <a:ln w="25400">
            <a:solidFill>
              <a:srgbClr val="1A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4297680.0" y="1938528"/>
            <a:ext cx="1874520.0" cy="484632"/>
          </a:xfrm>
          <a:prstGeom prst="line">
            <a:avLst/>
          </a:prstGeom>
          <a:ln w="25400">
            <a:solidFill>
              <a:srgbClr val="1A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57800" y="1609344.0"/>
            <a:ext cx="2011680" cy="0.0"/>
          </a:xfrm>
          <a:prstGeom prst="line">
            <a:avLst/>
          </a:prstGeom>
          <a:ln w="25400">
            <a:solidFill>
              <a:srgbClr val="1A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.0" y="1938528"/>
            <a:ext cx="0.0" cy="484632"/>
          </a:xfrm>
          <a:prstGeom prst="line">
            <a:avLst/>
          </a:prstGeom>
          <a:ln w="25400">
            <a:solidFill>
              <a:srgbClr val="1A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29600.0" y="3081528"/>
            <a:ext cx="0.0" cy="484632"/>
          </a:xfrm>
          <a:prstGeom prst="line">
            <a:avLst/>
          </a:prstGeom>
          <a:ln w="25400">
            <a:solidFill>
              <a:srgbClr val="1A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189720" y="1609344.0"/>
            <a:ext cx="137160" cy="2286000.0"/>
          </a:xfrm>
          <a:prstGeom prst="line">
            <a:avLst/>
          </a:prstGeom>
          <a:ln w="25400">
            <a:solidFill>
              <a:srgbClr val="1A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82880" y="4572000"/>
          <a:ext cx="11795760" cy="2084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  <a:gridCol w="3931920"/>
              </a:tblGrid>
              <a:tr h="260603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Статус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Описание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Инициатор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OnEditing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Черновик (редактирование)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Студент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Ожидает рассмотрения преподавателем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Студент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ApprovedBySupervisor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Утверждена руководителем → к зав. каф.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Преподаватель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PendingDepartmentHead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Ожидает решения зав. кафедрой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Авто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ApprovedByDepartmentHead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Финально утверждена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Зав. кафедрой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RejectedBySupervisor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Отклонена руководителем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Преподаватель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606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RejectedByDepartmentHead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Отклонена зав. кафедрой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Зав. кафедрой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Архитектура 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Clean Architecture · 4 слоя · Dependency Inversion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394960" cy="9144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18872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Controllers · Middleware · Swagger · Rate Limiting · JWT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5394960" cy="82296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4884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1945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Services · DTOs · Repository Interfaces · AuthContracts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5394960" cy="822960"/>
          </a:xfrm>
          <a:prstGeom prst="rect">
            <a:avLst/>
          </a:prstGeom>
          <a:solidFill>
            <a:srgbClr val="16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06324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1089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EF Core · Repositories · Redis · S3/MinIO · BcryptHasher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5394960" cy="822960"/>
          </a:xfrm>
          <a:prstGeom prst="rect">
            <a:avLst/>
          </a:prstGeom>
          <a:solidFill>
            <a:srgbClr val="074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97764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Domain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0233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Entities · Business Rules · No external dependencies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892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B4A"/>
                </a:solidFill>
              </a:rPr>
              <a:t>Зависимости
только внутрь 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097280"/>
            <a:ext cx="2834640" cy="4572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1247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  (Angular 20)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554480"/>
            <a:ext cx="283464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D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62763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Standalone Components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08483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PrimeNG 20.4 (UI kit)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54203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RxJS Observables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99923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HTTP Interceptors (JWT)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45643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Role-based Guards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91363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Polling (chat)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1097280"/>
            <a:ext cx="283464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11247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1554480"/>
            <a:ext cx="2834640" cy="3246120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62763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PostgreSQL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08483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Redis 7 (refresh tokens)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54203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MinIO / S3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99923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Docker Compose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45643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nginx 1.27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913632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Testcontainers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715000" y="1783080"/>
            <a:ext cx="27432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120640" y="155448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B4A"/>
                </a:solidFill>
              </a:rPr>
              <a:t>REST 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983480"/>
            <a:ext cx="11658600" cy="3200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00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F0"/>
                </a:solidFill>
              </a:rPr>
              <a:t>Жизненный цикл запроса: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5001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Angular SPA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47872" y="5001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0F0"/>
                </a:solidFill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43983" y="5001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nginx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0096" y="5001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0F0"/>
                </a:solidFill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6208" y="5001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ASP.NET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5001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0F0"/>
                </a:solidFill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28432" y="5001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Application 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24544" y="5001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0F0"/>
                </a:solidFill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0656" y="5001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Repository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16768" y="5001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0F0"/>
                </a:solidFill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12880" y="5001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Схема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PostgreSQL · 20+ таблиц · pgcrypto (UUID)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1097280"/>
            <a:ext cx="2743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113385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1463040"/>
            <a:ext cx="274320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" y="1499616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(PK, UUID)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" y="1764792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" y="2029968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password_hash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" y="2295144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role_id (FK)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2926080"/>
            <a:ext cx="2743200" cy="365760"/>
          </a:xfrm>
          <a:prstGeom prst="rect">
            <a:avLst/>
          </a:prstGeom>
          <a:solidFill>
            <a:srgbClr val="16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296265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Teachers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" y="3291840"/>
            <a:ext cx="274320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16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" y="3328416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" y="3593592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user_id (FK)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" y="3858768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max_students_limit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" y="4123944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degree_id  title_id  position_id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4617720"/>
            <a:ext cx="2743200" cy="36576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465429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Students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" y="4983480"/>
            <a:ext cx="2743200" cy="868679"/>
          </a:xfrm>
          <a:prstGeom prst="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" y="5020056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" y="5285232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user_id (FK)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" y="5550408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study_group_id (FK)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1097280"/>
            <a:ext cx="2743200" cy="36576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27832" y="113385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Topics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1463040"/>
            <a:ext cx="2743200" cy="1399032"/>
          </a:xfrm>
          <a:prstGeom prst="rect">
            <a:avLst/>
          </a:prstGeom>
          <a:solidFill>
            <a:srgbClr val="FFFFFF"/>
          </a:solidFill>
          <a:ln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9544" y="1499616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9544" y="1764792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title, description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9544" y="2029968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status_id (FK)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9544" y="2295144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teacher_id (FK)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9544" y="2560320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created_at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4680" y="3063240"/>
            <a:ext cx="27432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27832" y="309981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SupervisorRequests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3429000"/>
            <a:ext cx="2743200" cy="1399032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9544" y="3465576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9544" y="3730752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student_id (FK)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9544" y="3995928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teacher_id (FK)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9544" y="4261104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9544" y="4526280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created_at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1097280"/>
            <a:ext cx="2743200" cy="36576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45352" y="113385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StudentApplications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1463040"/>
            <a:ext cx="2743200" cy="1399032"/>
          </a:xfrm>
          <a:prstGeom prst="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27064" y="1499616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27064" y="1764792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student_id (FK)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27064" y="2029968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topic_id (FK)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27064" y="2295144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supervisor_request_id (FK)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27064" y="2560320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status_id (FK)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063240"/>
            <a:ext cx="2743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45352" y="309981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ApplicationActions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3429000"/>
            <a:ext cx="2743200" cy="1664207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27064" y="3465576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27064" y="3730752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application_id (FK)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27064" y="3995928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actor_id (FK)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27064" y="4261104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action_status_id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27064" y="4526280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comment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27064" y="4791456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created_at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4892040"/>
            <a:ext cx="2743200" cy="365760"/>
          </a:xfrm>
          <a:prstGeom prst="rect">
            <a:avLst/>
          </a:prstGeom>
          <a:solidFill>
            <a:srgbClr val="16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5352" y="492861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ChatMessages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5257800"/>
            <a:ext cx="2743200" cy="1399032"/>
          </a:xfrm>
          <a:prstGeom prst="rect">
            <a:avLst/>
          </a:prstGeom>
          <a:solidFill>
            <a:srgbClr val="FFFFFF"/>
          </a:solidFill>
          <a:ln>
            <a:solidFill>
              <a:srgbClr val="16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27064" y="5294376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27064" y="5559552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application_id (FK)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27064" y="5824728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sender_id (FK)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27064" y="6089904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text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27064" y="6355080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created_at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89720" y="1097280"/>
            <a:ext cx="2743200" cy="365760"/>
          </a:xfrm>
          <a:prstGeom prst="rect">
            <a:avLst/>
          </a:prstGeom>
          <a:solidFill>
            <a:srgbClr val="22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62872" y="113385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GraduateWorks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89720" y="1463040"/>
            <a:ext cx="2743200" cy="1399032"/>
          </a:xfrm>
          <a:prstGeom prst="rect">
            <a:avLst/>
          </a:prstGeom>
          <a:solidFill>
            <a:srgbClr val="FFFFFF"/>
          </a:solidFill>
          <a:ln>
            <a:solidFill>
              <a:srgbClr val="229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44584" y="1499616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44584" y="1764792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application_id (FK)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44584" y="2029968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grade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44584" y="2295144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file_key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44584" y="2560320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confirmed_at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89720" y="3063240"/>
            <a:ext cx="27432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62872" y="309981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89720" y="3429000"/>
            <a:ext cx="2743200" cy="1664207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44584" y="3465576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44584" y="3730752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user_id (FK)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44584" y="3995928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type_id (FK)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44584" y="4261104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message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244584" y="4526280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is_read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44584" y="4791456"/>
            <a:ext cx="2633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related_entity_id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1508760.0" y="2596896"/>
            <a:ext cx="0.0" cy="329184"/>
          </a:xfrm>
          <a:prstGeom prst="line">
            <a:avLst/>
          </a:prstGeom>
          <a:ln w="19050">
            <a:solidFill>
              <a:srgbClr val="6B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543800.0" y="2862072"/>
            <a:ext cx="0.0" cy="201168"/>
          </a:xfrm>
          <a:prstGeom prst="line">
            <a:avLst/>
          </a:prstGeom>
          <a:ln w="19050">
            <a:solidFill>
              <a:srgbClr val="6B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543800.0" y="4892040"/>
            <a:ext cx="0.0" cy="201167"/>
          </a:xfrm>
          <a:prstGeom prst="line">
            <a:avLst/>
          </a:prstGeom>
          <a:ln w="19050">
            <a:solidFill>
              <a:srgbClr val="6B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Технологический стек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365760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521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🖥  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81912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6733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ASP.NET Core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0391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Entity Framework Core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4048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C#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7706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Swagger / OpenAPI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1363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ClosedXML (Excel)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078992"/>
            <a:ext cx="3657600" cy="502920"/>
          </a:xfrm>
          <a:prstGeom prst="rect">
            <a:avLst/>
          </a:prstGeom>
          <a:solidFill>
            <a:srgbClr val="16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1521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🗄  База данных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581912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166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16733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PostgreSQL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0391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pgcrypto (UUID)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4048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Npgsql (driver)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27706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Flyway SQL migrations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078992"/>
            <a:ext cx="36576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11521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🔐  Безопасность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581912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167335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JWT Bearer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20391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Redis (refresh tokens)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4048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Bcrypt (пароли)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27706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Rate Limiting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1363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RBAC (4 роли)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566160"/>
            <a:ext cx="3657600" cy="50292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6393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🌐  Frontend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6908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D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41605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Angular 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45262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TypeScript 5.9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8920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PrimeNG 20.4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52578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RxJS 7.8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56235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SCSS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3566160"/>
            <a:ext cx="3657600" cy="502920"/>
          </a:xfrm>
          <a:prstGeom prst="rect">
            <a:avLst/>
          </a:prstGeom>
          <a:solidFill>
            <a:srgbClr val="074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0248" y="36393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📦  Хранилище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406908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074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5112" y="41605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S3 / MinIO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5112" y="45262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Presigned URLs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5112" y="48920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Двухшаговая загрузка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5112" y="52578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(upload + confirm)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3566160"/>
            <a:ext cx="365760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56448" y="36393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🐳  DevOps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406908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1312" y="41605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Docker Compose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45262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nginx 1.27 (frontend)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1312" y="48920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Multi-stage builds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1312" y="52578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 Testcontainers (tests)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Ключевые технические решения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3657600" cy="548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24712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🔐  JWT + Redis
Refresh Token Rotation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27632"/>
            <a:ext cx="36576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19072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Stateless аутентификация.
Refresh-токены — в Redis.
Одноразовые: logout инвалидирует
весь сеанс немедленно.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3088" y="1078992"/>
            <a:ext cx="3657600" cy="54864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2816" y="1124712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⚡  IMemoryCache
(кэш справочников)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3088" y="1627632"/>
            <a:ext cx="36576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1719072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Статусы заявок/тем кэшируются
в памяти приложения.
Устраняет лишние SELECT к БД.
Инвалидируется при изменении.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1856" y="1078992"/>
            <a:ext cx="3657600" cy="548640"/>
          </a:xfrm>
          <a:prstGeom prst="rect">
            <a:avLst/>
          </a:prstGeom>
          <a:solidFill>
            <a:srgbClr val="16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1584" y="1124712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📁  S3 / MinIO
(Presigned URLs)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1856" y="1627632"/>
            <a:ext cx="36576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166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9016" y="1719072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Файлы ВКР хранятся в MinIO.
API выдаёт временный URL.
Файл идёт напрямую клиент↔MinIO,
минуя сервер приложения.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85032"/>
            <a:ext cx="365760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730752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🔔  Email + In-App
уведомления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33672"/>
            <a:ext cx="36576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325112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Уведомления создаются в БД.
Email — фоновая очередь
(IHostedService, graceful shutdown).
Навигация по related_entity_id.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3088" y="3685032"/>
            <a:ext cx="3657600" cy="548640"/>
          </a:xfrm>
          <a:prstGeom prst="rect">
            <a:avLst/>
          </a:prstGeom>
          <a:solidFill>
            <a:srgbClr val="074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42816" y="3730752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🧪  Testcontainers
(реальная БД в тестах)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3088" y="4233672"/>
            <a:ext cx="36576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074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4325112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PostgreSQL + Redis подымаются
в Docker на время теста.
Нет моков, нет расхождений.
Полная изоляция каждого теста.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1856" y="3685032"/>
            <a:ext cx="3657600" cy="54864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01584" y="3730752"/>
            <a:ext cx="3474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🔄  Polling
(псевдо-реальное время)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91856" y="4233672"/>
            <a:ext cx="36576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9016" y="4325112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DetailPollingService опрашивает
/applications/{id}/messages.
Интервал ~5 сек.
Без WebSocket — проще деплой.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Тестирование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Unit Tests · Integration Tests · Testcontainers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572000"/>
            <a:ext cx="4023360" cy="137160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475488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Интеграционные тесты
Testcontainers (PostgreSQL + Redis)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926080"/>
            <a:ext cx="3108960" cy="1508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32004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Unit Tests
Services &amp; Business Logic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691640"/>
            <a:ext cx="2011680" cy="109728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87451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Ручное
Swagger UI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600" y="1143000"/>
          <a:ext cx="60350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Модуль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Тип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~Кол-во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Что покрывает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StudentApplications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15+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CRUD, статусные переходы, доступ по роли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Topics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Integration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10+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Создание, поиск, фильтры, удаление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8+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Login, refresh, logout, rate limiting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Dictionaries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Integration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20+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CRUD для всех справочников (10 штук)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ApplicationsService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12+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Approve/reject, уведомления, лимиты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NotificationsService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6+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B4A"/>
                          </a:solidFill>
                        </a:rPr>
                        <a:t>Создание, чтение, пометка прочитанным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371600" y="6126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45AB5"/>
                </a:solidFill>
              </a:rPr>
              <a:t>70+ тест-кейсов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Публикация результатов исследования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30175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F0"/>
                </a:solidFill>
              </a:rPr>
              <a:t>📄  Статья / Доклад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«Архитектура сервиса выбора тем выпускной квалификационной работы»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0F0"/>
                </a:solidFill>
              </a:rPr>
              <a:t>Ильин А. 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Всероссийская молодёжная научно-практическая конференция
«Компьютерные технологии и защита информации – 2026»  (МНПК КТЗИ –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7588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99"/>
                </a:solidFill>
              </a:rPr>
              <a:t>2026 г.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97680"/>
            <a:ext cx="11430000" cy="384048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2511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Содержание доклада: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731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🔹  Анализ существующих подходов к автоматизации выбора тем ВКР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5721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🔹  Обоснование выбора Clean Architecture для учебного сервиса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4126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🔹  Проектирование двухэтапного процесса согласования заявок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2531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🔹  Сравнение технологий: ASP.NET Core vs Spring Boot vs Django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09359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🔹  Описание ролевой модели и JWT-аутентификации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Результаты разработки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Что реализовано · Объём · Функциональность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828800" cy="1691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40+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F"/>
                </a:solidFill>
              </a:rPr>
              <a:t>REST API
эндпоинтов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097280"/>
            <a:ext cx="1828800" cy="169164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2344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20+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0116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F"/>
                </a:solidFill>
              </a:rPr>
              <a:t>таблиц
в БД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097280"/>
            <a:ext cx="1828800" cy="1691640"/>
          </a:xfrm>
          <a:prstGeom prst="rect">
            <a:avLst/>
          </a:prstGeom>
          <a:solidFill>
            <a:srgbClr val="074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2344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70+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0116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F"/>
                </a:solidFill>
              </a:rPr>
              <a:t>тестов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097280"/>
            <a:ext cx="1828800" cy="1691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2344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0116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F"/>
                </a:solidFill>
              </a:rPr>
              <a:t>роли
пользователей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1097280"/>
            <a:ext cx="1828800" cy="169164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12344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20116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F"/>
                </a:solidFill>
              </a:rPr>
              <a:t>статусов
заявки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1097280"/>
            <a:ext cx="1828800" cy="1691640"/>
          </a:xfrm>
          <a:prstGeom prst="rect">
            <a:avLst/>
          </a:prstGeom>
          <a:solidFill>
            <a:srgbClr val="16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12344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10+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0116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F"/>
                </a:solidFill>
              </a:rPr>
              <a:t>справочников
(CRUD)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926080"/>
            <a:ext cx="1161288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953512"/>
            <a:ext cx="5486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Реализованный функционал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429000"/>
            <a:ext cx="5715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Двухэтапное согласование тем ВКР (Преподаватель + Зав. кафедрой)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867912"/>
            <a:ext cx="5715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Система запросов научного руководителя с лимитом студентов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306824"/>
            <a:ext cx="5715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Чат внутри заявки — студент ↔ руководитель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745736"/>
            <a:ext cx="5715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Email-уведомления (фоновая очередь) + In-app уведомления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429000"/>
            <a:ext cx="5715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Архив защищённых работ с загрузкой файлов через S3/MinIO (Presigned URL)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867912"/>
            <a:ext cx="5715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JWT + Redis Refresh Token Rotation · Rate Limiting · RBAC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306824"/>
            <a:ext cx="5715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Admin-панель: управление пользователями, аналитика, экспорт в Excel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Демонстрация интерфейса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Ключевые экраны системы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3749039" cy="2651760"/>
          </a:xfrm>
          <a:prstGeom prst="rect">
            <a:avLst/>
          </a:prstGeom>
          <a:solidFill>
            <a:srgbClr val="D0D8ED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9659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B7A99"/>
                </a:solidFill>
              </a:rPr>
              <a:t>[ Скриншот ]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291840"/>
            <a:ext cx="3749039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3375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Каталог тем ВКР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97280"/>
            <a:ext cx="3749039" cy="2651760"/>
          </a:xfrm>
          <a:prstGeom prst="rect">
            <a:avLst/>
          </a:prstGeom>
          <a:solidFill>
            <a:srgbClr val="D0D8ED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9659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B7A99"/>
                </a:solidFill>
              </a:rPr>
              <a:t>[ Скриншот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291840"/>
            <a:ext cx="3749039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33375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Детали заявки + чат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097280"/>
            <a:ext cx="3749039" cy="2651760"/>
          </a:xfrm>
          <a:prstGeom prst="rect">
            <a:avLst/>
          </a:prstGeom>
          <a:solidFill>
            <a:srgbClr val="D0D8ED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9659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B7A99"/>
                </a:solidFill>
              </a:rPr>
              <a:t>[ Скриншот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3291840"/>
            <a:ext cx="3749039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33375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Архив ВКР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977639"/>
            <a:ext cx="3749039" cy="2651760"/>
          </a:xfrm>
          <a:prstGeom prst="rect">
            <a:avLst/>
          </a:prstGeom>
          <a:solidFill>
            <a:srgbClr val="D0D8ED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4846319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B7A99"/>
                </a:solidFill>
              </a:rPr>
              <a:t>[ Скриншот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6172199"/>
            <a:ext cx="3749039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217919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Уведомления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977639"/>
            <a:ext cx="3749039" cy="2651760"/>
          </a:xfrm>
          <a:prstGeom prst="rect">
            <a:avLst/>
          </a:prstGeom>
          <a:solidFill>
            <a:srgbClr val="D0D8ED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846319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B7A99"/>
                </a:solidFill>
              </a:rPr>
              <a:t>[ Скриншот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6172199"/>
            <a:ext cx="3749039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6217919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Запрос руководителя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3977639"/>
            <a:ext cx="3749039" cy="2651760"/>
          </a:xfrm>
          <a:prstGeom prst="rect">
            <a:avLst/>
          </a:prstGeom>
          <a:solidFill>
            <a:srgbClr val="D0D8ED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4846319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B7A99"/>
                </a:solidFill>
              </a:rPr>
              <a:t>[ Скриншот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6172199"/>
            <a:ext cx="3749039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6217919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Admin: аналитика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0392B"/>
                </a:solidFill>
              </a:rPr>
              <a:t>★  Вставьте скриншоты приложения перед защитой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Заключение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15568"/>
            <a:ext cx="78638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29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97864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9A56"/>
                </a:solidFill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07008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Спроектирована и реализована АИС на основе Clean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737360"/>
            <a:ext cx="78638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29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19656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9A56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Разработан двухэтапный workflow согласования с полным аудит-треком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359152"/>
            <a:ext cx="78638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29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4144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9A56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50592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Реализована безопасная аутентификация: JWT + Redis (RBAC для 4 ролей)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980944"/>
            <a:ext cx="78638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29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9A56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72384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Создан архив ВКР с файловым хранилищем S3/MinIO (Presigned URL)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602736"/>
            <a:ext cx="78638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29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85032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9A56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94176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Система уведомлений: in-app + email (фоновая очередь)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224528"/>
            <a:ext cx="78638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29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06824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9A56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15968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Написано 70+ тестов (unit + integration, Testcontainers)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846320"/>
            <a:ext cx="78638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229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28616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9A56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37759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</a:rPr>
              <a:t>Результаты опубликованы на конференции МНПК КТЗИ –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1097280"/>
            <a:ext cx="3566160" cy="41148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11155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Перспективы развития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1600200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WebSocket / SignalR вместо polling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057400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PWA / мобильное приложение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514600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SSO / LDAP (интеграция с LMS)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971800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Prometheus + Grafana (мониторинг)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429000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▸  CI/CD pipeline (GitHub Actions)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989320"/>
            <a:ext cx="11521440" cy="6400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533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Спасибо за внимание!  Готов ответить на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